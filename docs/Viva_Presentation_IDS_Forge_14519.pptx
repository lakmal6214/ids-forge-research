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supervisor Mr. Sahan Weerasinghe and panel members. Welcome to my final defense presentation for COM4901. My project is IDS Forge: A Machine Learning-Based Hybrid Intrusion Detection System for Internet of Things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my project achievements upfront: IDS Forge achieves 100% accuracy and 100% zero-day threat recall while processing packets in 0.034 milliseconds and consuming only 214 megabytes of RAM.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of Things is expanding rapidly, but IoT devices possess weak microcontrollers and restricted RAM. Malware like Mirai exploits default passwords to build massive botnets, while enterprise security like Snort is too heavy for IoT hardware.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summarizes the problem: Signature engines fail on zero-day attacks, pure Machine Learning engines overload edge CPUs, and parallel hybrid models waste processing power by running both models on every packet.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primary aim was to build a lightweight hybrid system for IoT edge networks. I formulated eight specific objectives covering feature selection, rule engineering, machine learning training, sequential integration, and hardware resource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architectural core of IDS Forge: Sequential Execution. Known attack packets match Phase 1 rules and are blocked instantly in sub-milliseconds, bypassing ML inference. Only unmatched ambiguous packets pass to Phase 2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the model lightweight for edge hardware, I developed a 3-Stage Feature Selection Pipeline combining Pearson linear correlation, Mutual Information non-linear gain, and Recursive Feature Elimination to pick the top 8 optimal features.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8 features represent connection density, flow duration statistics, sending rate, and destination port. Discarding sport, drate, proto, and min reduced feature space by 33.3% without losing classification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implements 9 protocol-specific boolean rules. String matching runs in O(N) linear time, blocking high-density TCP/UDP floods, Mirai Telnet scans, and SSH brute-force probes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Phase 2 anomaly detection, I evaluated Decision Tree, Random Forest, and Gradient Boosting. Random Forest with 50 decision trees was selected because ensemble bagging eliminates decision noise and prevents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evaluation uses the benchmark BoT-IoT dataset schema across 10,000 traffic flows split 70/30. The software stack was built entirely in Python 3.14 using scikit-learn, pandas, psutil, and Streamlit.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empirical classification results across 3,000 test flows: Standalone signature rules achieved 98.27% accuracy. Our proposed IDS Forge Hybrid achieved 100% classification accuracy and 100% detection rate with a 0% false positive rate.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 overhead evaluation confirms edge gateway feasibility: Processing latency is 0.034 ms per packet, CPU load remains under 6.2%, and memory footprint is 214.7 MB RAM.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zero-day defense, I disabled Phase 1 rules for reconnaissance scans. Signature-only detection dropped to 85.56%, but Phase 2 Random Forest intercepted 100% of bypassed probes, proving +14.44% zero-day recall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IDS Forge includes a complete Streamlit web UI dashboard, automated PDF export tools, 1-click batch scripts for Windows, and is fully published on GitHub.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IDS Forge successfully solves the trade-off between detection speed and zero-day threat defense for IoT edge networks. Thank you for your time and attention. I am now open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457200"/>
            <a:ext cx="11277295" cy="594360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1645920"/>
          </a:xfrm>
          <a:prstGeom prst="rect">
            <a:avLst/>
          </a:prstGeom>
          <a:noFill/>
        </p:spPr>
        <p:txBody>
          <a:bodyPr wrap="square">
            <a:spAutoFit/>
          </a:bodyPr>
          <a:lstStyle/>
          <a:p>
            <a:pPr>
              <a:defRPr sz="4000" b="1">
                <a:solidFill>
                  <a:srgbClr val="10B981"/>
                </a:solidFill>
                <a:latin typeface="Calibri"/>
              </a:defRPr>
            </a:pPr>
            <a:r>
              <a:t>IDS FORGE ⚒️</a:t>
            </a:r>
          </a:p>
          <a:p>
            <a:pPr>
              <a:defRPr sz="2200" b="1">
                <a:solidFill>
                  <a:srgbClr val="FFFFFF"/>
                </a:solidFill>
                <a:latin typeface="Calibri"/>
              </a:defRPr>
            </a:pPr>
            <a:r>
              <a:t>A Machine Learning-Based Hybrid Intrusion Detection System for IoT Networks</a:t>
            </a:r>
          </a:p>
        </p:txBody>
      </p:sp>
      <p:sp>
        <p:nvSpPr>
          <p:cNvPr id="4" name="Rounded Rectangle 3"/>
          <p:cNvSpPr/>
          <p:nvPr/>
        </p:nvSpPr>
        <p:spPr>
          <a:xfrm>
            <a:off x="914400" y="3108960"/>
            <a:ext cx="10362895"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291840"/>
            <a:ext cx="9784080" cy="2377440"/>
          </a:xfrm>
          <a:prstGeom prst="rect">
            <a:avLst/>
          </a:prstGeom>
          <a:noFill/>
        </p:spPr>
        <p:txBody>
          <a:bodyPr wrap="square">
            <a:spAutoFit/>
          </a:bodyPr>
          <a:lstStyle/>
          <a:p/>
          <a:p>
            <a:r>
              <a:rPr b="1" sz="1300">
                <a:solidFill>
                  <a:srgbClr val="2563EB"/>
                </a:solidFill>
              </a:rPr>
              <a:t>Student Name:          </a:t>
            </a:r>
            <a:r>
              <a:rPr sz="1300">
                <a:solidFill>
                  <a:srgbClr val="FFFFFF"/>
                </a:solidFill>
              </a:rPr>
              <a:t>R.M.L.S.B. Wijerathna (Student ID: 14519)</a:t>
            </a:r>
          </a:p>
          <a:p>
            <a:r>
              <a:rPr b="1" sz="1300">
                <a:solidFill>
                  <a:srgbClr val="2563EB"/>
                </a:solidFill>
              </a:rPr>
              <a:t>Degree Program:        </a:t>
            </a:r>
            <a:r>
              <a:rPr sz="1300">
                <a:solidFill>
                  <a:srgbClr val="FFFFFF"/>
                </a:solidFill>
              </a:rPr>
              <a:t>BSc (Hons) in Computer Networks and Cyber Security</a:t>
            </a:r>
          </a:p>
          <a:p>
            <a:r>
              <a:rPr b="1" sz="1300">
                <a:solidFill>
                  <a:srgbClr val="2563EB"/>
                </a:solidFill>
              </a:rPr>
              <a:t>Module Title:          </a:t>
            </a:r>
            <a:r>
              <a:rPr sz="1300">
                <a:solidFill>
                  <a:srgbClr val="FFFFFF"/>
                </a:solidFill>
              </a:rPr>
              <a:t>COM4901 - Final Year Individual Project</a:t>
            </a:r>
          </a:p>
          <a:p>
            <a:r>
              <a:rPr b="1" sz="1300">
                <a:solidFill>
                  <a:srgbClr val="2563EB"/>
                </a:solidFill>
              </a:rPr>
              <a:t>Project Supervisor:    </a:t>
            </a:r>
            <a:r>
              <a:rPr sz="1300">
                <a:solidFill>
                  <a:srgbClr val="FFFFFF"/>
                </a:solidFill>
              </a:rPr>
              <a:t>Mr. Sahan Weerasinghe</a:t>
            </a:r>
          </a:p>
          <a:p>
            <a:r>
              <a:rPr b="1" sz="1300">
                <a:solidFill>
                  <a:srgbClr val="2563EB"/>
                </a:solidFill>
              </a:rPr>
              <a:t>Institution:           </a:t>
            </a:r>
            <a:r>
              <a:rPr sz="1300">
                <a:solidFill>
                  <a:srgbClr val="FFFFFF"/>
                </a:solidFill>
              </a:rPr>
              <a:t>KIU University, Sri Lanka</a:t>
            </a:r>
          </a:p>
          <a:p>
            <a:r>
              <a:rPr b="1" sz="1300">
                <a:solidFill>
                  <a:srgbClr val="2563EB"/>
                </a:solidFill>
              </a:rPr>
              <a:t>GitHub Repository:     </a:t>
            </a:r>
            <a:r>
              <a:rPr sz="1300">
                <a:solidFill>
                  <a:srgbClr val="FFFFFF"/>
                </a:solidFill>
              </a:rPr>
              <a:t>https://github.com/lakmal6214/IDS-Forge-Research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Executive Summary &amp; Core Benchmark Highlights</a:t>
            </a:r>
          </a:p>
        </p:txBody>
      </p:sp>
      <p:sp>
        <p:nvSpPr>
          <p:cNvPr id="4" name="Rounded Rectangle 3"/>
          <p:cNvSpPr/>
          <p:nvPr/>
        </p:nvSpPr>
        <p:spPr>
          <a:xfrm>
            <a:off x="731520" y="1463040"/>
            <a:ext cx="256032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194560" cy="4389120"/>
          </a:xfrm>
          <a:prstGeom prst="rect">
            <a:avLst/>
          </a:prstGeom>
          <a:noFill/>
        </p:spPr>
        <p:txBody>
          <a:bodyPr wrap="square">
            <a:spAutoFit/>
          </a:bodyPr>
          <a:lstStyle/>
          <a:p>
            <a:pPr algn="ctr">
              <a:defRPr sz="3200" b="1">
                <a:solidFill>
                  <a:srgbClr val="2563EB"/>
                </a:solidFill>
                <a:latin typeface="Calibri"/>
              </a:defRPr>
            </a:pPr>
            <a:r>
              <a:t>100.00%</a:t>
            </a:r>
          </a:p>
          <a:p>
            <a:pPr algn="ctr">
              <a:defRPr sz="1400" b="1">
                <a:solidFill>
                  <a:srgbClr val="0F172A"/>
                </a:solidFill>
                <a:latin typeface="Calibri"/>
              </a:defRPr>
            </a:pPr>
            <a:r>
              <a:t>Classification Accuracy</a:t>
            </a:r>
          </a:p>
          <a:p/>
          <a:p>
            <a:pPr algn="ctr">
              <a:defRPr sz="1100">
                <a:solidFill>
                  <a:srgbClr val="334155"/>
                </a:solidFill>
                <a:latin typeface="Calibri"/>
              </a:defRPr>
            </a:pPr>
            <a:r>
              <a:t>Zero false positives across 3,000 BoT-IoT test flows</a:t>
            </a:r>
          </a:p>
        </p:txBody>
      </p:sp>
      <p:sp>
        <p:nvSpPr>
          <p:cNvPr id="6" name="Rounded Rectangle 5"/>
          <p:cNvSpPr/>
          <p:nvPr/>
        </p:nvSpPr>
        <p:spPr>
          <a:xfrm>
            <a:off x="3566160" y="1463040"/>
            <a:ext cx="256032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0" y="1645920"/>
            <a:ext cx="2194560" cy="4389120"/>
          </a:xfrm>
          <a:prstGeom prst="rect">
            <a:avLst/>
          </a:prstGeom>
          <a:noFill/>
        </p:spPr>
        <p:txBody>
          <a:bodyPr wrap="square">
            <a:spAutoFit/>
          </a:bodyPr>
          <a:lstStyle/>
          <a:p>
            <a:pPr algn="ctr">
              <a:defRPr sz="3200" b="1">
                <a:solidFill>
                  <a:srgbClr val="10B981"/>
                </a:solidFill>
                <a:latin typeface="Calibri"/>
              </a:defRPr>
            </a:pPr>
            <a:r>
              <a:t>0.034 ms</a:t>
            </a:r>
          </a:p>
          <a:p>
            <a:pPr algn="ctr">
              <a:defRPr sz="1400" b="1">
                <a:solidFill>
                  <a:srgbClr val="0F172A"/>
                </a:solidFill>
                <a:latin typeface="Calibri"/>
              </a:defRPr>
            </a:pPr>
            <a:r>
              <a:t>Per-Packet Latency</a:t>
            </a:r>
          </a:p>
          <a:p/>
          <a:p>
            <a:pPr algn="ctr">
              <a:defRPr sz="1100">
                <a:solidFill>
                  <a:srgbClr val="334155"/>
                </a:solidFill>
                <a:latin typeface="Calibri"/>
              </a:defRPr>
            </a:pPr>
            <a:r>
              <a:t>Microsecond execution speed ideal for IoT edge gateways</a:t>
            </a:r>
          </a:p>
        </p:txBody>
      </p:sp>
      <p:sp>
        <p:nvSpPr>
          <p:cNvPr id="8" name="Rounded Rectangle 7"/>
          <p:cNvSpPr/>
          <p:nvPr/>
        </p:nvSpPr>
        <p:spPr>
          <a:xfrm>
            <a:off x="6400800" y="1463040"/>
            <a:ext cx="256032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645920"/>
            <a:ext cx="2194560" cy="4389120"/>
          </a:xfrm>
          <a:prstGeom prst="rect">
            <a:avLst/>
          </a:prstGeom>
          <a:noFill/>
        </p:spPr>
        <p:txBody>
          <a:bodyPr wrap="square">
            <a:spAutoFit/>
          </a:bodyPr>
          <a:lstStyle/>
          <a:p>
            <a:pPr algn="ctr">
              <a:defRPr sz="3200" b="1">
                <a:solidFill>
                  <a:srgbClr val="1E3A8A"/>
                </a:solidFill>
                <a:latin typeface="Calibri"/>
              </a:defRPr>
            </a:pPr>
            <a:r>
              <a:t>214.7 MB</a:t>
            </a:r>
          </a:p>
          <a:p>
            <a:pPr algn="ctr">
              <a:defRPr sz="1400" b="1">
                <a:solidFill>
                  <a:srgbClr val="0F172A"/>
                </a:solidFill>
                <a:latin typeface="Calibri"/>
              </a:defRPr>
            </a:pPr>
            <a:r>
              <a:t>RAM Footprint</a:t>
            </a:r>
          </a:p>
          <a:p/>
          <a:p>
            <a:pPr algn="ctr">
              <a:defRPr sz="1100">
                <a:solidFill>
                  <a:srgbClr val="334155"/>
                </a:solidFill>
                <a:latin typeface="Calibri"/>
              </a:defRPr>
            </a:pPr>
            <a:r>
              <a:t>Consumes &lt;6.2% CPU &amp; 214 MB RAM on edge hardware</a:t>
            </a:r>
          </a:p>
        </p:txBody>
      </p:sp>
      <p:sp>
        <p:nvSpPr>
          <p:cNvPr id="10" name="Rounded Rectangle 9"/>
          <p:cNvSpPr/>
          <p:nvPr/>
        </p:nvSpPr>
        <p:spPr>
          <a:xfrm>
            <a:off x="9235440" y="1463040"/>
            <a:ext cx="256032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0" y="1645920"/>
            <a:ext cx="2194560" cy="4389120"/>
          </a:xfrm>
          <a:prstGeom prst="rect">
            <a:avLst/>
          </a:prstGeom>
          <a:noFill/>
        </p:spPr>
        <p:txBody>
          <a:bodyPr wrap="square">
            <a:spAutoFit/>
          </a:bodyPr>
          <a:lstStyle/>
          <a:p>
            <a:pPr algn="ctr">
              <a:defRPr sz="3200" b="1">
                <a:solidFill>
                  <a:srgbClr val="0F172A"/>
                </a:solidFill>
                <a:latin typeface="Calibri"/>
              </a:defRPr>
            </a:pPr>
            <a:r>
              <a:t>100.00%</a:t>
            </a:r>
          </a:p>
          <a:p>
            <a:pPr algn="ctr">
              <a:defRPr sz="1400" b="1">
                <a:solidFill>
                  <a:srgbClr val="0F172A"/>
                </a:solidFill>
                <a:latin typeface="Calibri"/>
              </a:defRPr>
            </a:pPr>
            <a:r>
              <a:t>Zero-Day Fallback Recall</a:t>
            </a:r>
          </a:p>
          <a:p/>
          <a:p>
            <a:pPr algn="ctr">
              <a:defRPr sz="1100">
                <a:solidFill>
                  <a:srgbClr val="334155"/>
                </a:solidFill>
                <a:latin typeface="Calibri"/>
              </a:defRPr>
            </a:pPr>
            <a:r>
              <a:t>Intercepts novel attack probes bypassed by rules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Background &amp; Motivation: The Growing IoT Threat Landscape</a:t>
            </a:r>
          </a:p>
        </p:txBody>
      </p:sp>
      <p:sp>
        <p:nvSpPr>
          <p:cNvPr id="4" name="Rounded Rectangle 3"/>
          <p:cNvSpPr/>
          <p:nvPr/>
        </p:nvSpPr>
        <p:spPr>
          <a:xfrm>
            <a:off x="7315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46320" cy="4389120"/>
          </a:xfrm>
          <a:prstGeom prst="rect">
            <a:avLst/>
          </a:prstGeom>
          <a:noFill/>
        </p:spPr>
        <p:txBody>
          <a:bodyPr wrap="square">
            <a:spAutoFit/>
          </a:bodyPr>
          <a:lstStyle/>
          <a:p>
            <a:pPr>
              <a:defRPr b="1" sz="1600">
                <a:solidFill>
                  <a:srgbClr val="2563EB"/>
                </a:solidFill>
              </a:defRPr>
            </a:pPr>
            <a:r>
              <a:t>1. Exponential IoT Ecosystem Growth</a:t>
            </a:r>
          </a:p>
          <a:p>
            <a:pPr>
              <a:defRPr sz="1200">
                <a:solidFill>
                  <a:srgbClr val="334155"/>
                </a:solidFill>
              </a:defRPr>
            </a:pPr>
            <a:r>
              <a:t>• Global IoT endpoints expected to exceed 30 Billion devices by 2030.</a:t>
            </a:r>
          </a:p>
          <a:p>
            <a:pPr>
              <a:defRPr sz="1200">
                <a:solidFill>
                  <a:srgbClr val="334155"/>
                </a:solidFill>
              </a:defRPr>
            </a:pPr>
            <a:r>
              <a:t>• Deployed across smart cities, industrial SCADA, healthcare telemetry, and home automation.</a:t>
            </a:r>
          </a:p>
          <a:p>
            <a:pPr>
              <a:defRPr sz="1200">
                <a:solidFill>
                  <a:srgbClr val="334155"/>
                </a:solidFill>
              </a:defRPr>
            </a:pPr>
            <a:r>
              <a:t>• Generates massive distributed network telemetry across public and private IP networks.</a:t>
            </a:r>
          </a:p>
          <a:p>
            <a:br/>
            <a:pPr>
              <a:defRPr b="1" sz="1600">
                <a:solidFill>
                  <a:srgbClr val="2563EB"/>
                </a:solidFill>
              </a:defRPr>
            </a:pPr>
            <a:r>
              <a:t>2. Severe Hardware Constraints</a:t>
            </a:r>
          </a:p>
          <a:p>
            <a:pPr>
              <a:defRPr sz="1200">
                <a:solidFill>
                  <a:srgbClr val="334155"/>
                </a:solidFill>
              </a:defRPr>
            </a:pPr>
            <a:r>
              <a:t>• Embedded microcontrollers (ARM Cortex-M, ESP32, MIPS32) run at modest 80–400 MHz clock rates.</a:t>
            </a:r>
          </a:p>
          <a:p>
            <a:pPr>
              <a:defRPr sz="1200">
                <a:solidFill>
                  <a:srgbClr val="334155"/>
                </a:solidFill>
              </a:defRPr>
            </a:pPr>
            <a:r>
              <a:t>• Extremely low volatile RAM memory (&lt;512 MB) and battery power limitations.</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b="1" sz="1600">
                <a:solidFill>
                  <a:srgbClr val="2563EB"/>
                </a:solidFill>
              </a:defRPr>
            </a:pPr>
            <a:r>
              <a:t>3. Native Vulnerabilities &amp; Botnets</a:t>
            </a:r>
          </a:p>
          <a:p>
            <a:pPr>
              <a:defRPr sz="1200">
                <a:solidFill>
                  <a:srgbClr val="334155"/>
                </a:solidFill>
              </a:defRPr>
            </a:pPr>
            <a:r>
              <a:t>• Plain-text protocols: Unencrypted MQTT (1883), CoAP (5683), raw TCP/UDP.</a:t>
            </a:r>
          </a:p>
          <a:p>
            <a:pPr>
              <a:defRPr sz="1200">
                <a:solidFill>
                  <a:srgbClr val="334155"/>
                </a:solidFill>
              </a:defRPr>
            </a:pPr>
            <a:r>
              <a:t>• Hardcoded default credentials (Telnet 23, SSH 22) and unpatched firmware.</a:t>
            </a:r>
          </a:p>
          <a:p>
            <a:pPr>
              <a:defRPr sz="1200">
                <a:solidFill>
                  <a:srgbClr val="334155"/>
                </a:solidFill>
              </a:defRPr>
            </a:pPr>
            <a:r>
              <a:t>• Malware Botnets (Mirai, Bashlite, Hajime) compromise IoT endpoints into botnet armies to launch terabit-scale DDoS SYN/UDP floods (&gt;1.2 Tbps).</a:t>
            </a:r>
          </a:p>
          <a:p>
            <a:br/>
            <a:pPr>
              <a:defRPr b="1" sz="1600">
                <a:solidFill>
                  <a:srgbClr val="2563EB"/>
                </a:solidFill>
              </a:defRPr>
            </a:pPr>
            <a:r>
              <a:t>4. Infeasibility of Legacy NIDS</a:t>
            </a:r>
          </a:p>
          <a:p>
            <a:pPr>
              <a:defRPr sz="1200">
                <a:solidFill>
                  <a:srgbClr val="334155"/>
                </a:solidFill>
              </a:defRPr>
            </a:pPr>
            <a:r>
              <a:t>• Legacy enterprise NIDS (Snort, Suricata) rely on heavy Deep Packet Inspection (DPI) &amp; tens of thousands of signatures.</a:t>
            </a:r>
          </a:p>
          <a:p>
            <a:pPr>
              <a:defRPr sz="1200">
                <a:solidFill>
                  <a:srgbClr val="334155"/>
                </a:solidFill>
              </a:defRPr>
            </a:pPr>
            <a:r>
              <a:t>• Causes high CPU saturation, out-of-memory kernel panics, and packet buffer overflow on edge gateways.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Problem Statement: Limitations of Existing Approaches</a:t>
            </a:r>
          </a:p>
        </p:txBody>
      </p:sp>
      <p:sp>
        <p:nvSpPr>
          <p:cNvPr id="4" name="Rounded Rectangle 3"/>
          <p:cNvSpPr/>
          <p:nvPr/>
        </p:nvSpPr>
        <p:spPr>
          <a:xfrm>
            <a:off x="731520" y="146304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49840" cy="1097280"/>
          </a:xfrm>
          <a:prstGeom prst="rect">
            <a:avLst/>
          </a:prstGeom>
          <a:noFill/>
        </p:spPr>
        <p:txBody>
          <a:bodyPr wrap="square">
            <a:spAutoFit/>
          </a:bodyPr>
          <a:lstStyle/>
          <a:p>
            <a:pPr>
              <a:defRPr b="1" sz="1600">
                <a:solidFill>
                  <a:srgbClr val="DC2626"/>
                </a:solidFill>
              </a:defRPr>
            </a:pPr>
            <a:r>
              <a:t>1. Pure Signature-Based IDS (S-IDS)</a:t>
            </a:r>
          </a:p>
          <a:p>
            <a:pPr>
              <a:defRPr sz="1300">
                <a:solidFill>
                  <a:srgbClr val="334155"/>
                </a:solidFill>
              </a:defRPr>
            </a:pPr>
            <a:r>
              <a:t>Fast string matching for known rules, but 0.00% detection recall against zero-day novel attacks &amp; mutated malware variants.</a:t>
            </a:r>
          </a:p>
        </p:txBody>
      </p:sp>
      <p:sp>
        <p:nvSpPr>
          <p:cNvPr id="6" name="Rounded Rectangle 5"/>
          <p:cNvSpPr/>
          <p:nvPr/>
        </p:nvSpPr>
        <p:spPr>
          <a:xfrm>
            <a:off x="731520" y="310896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46120"/>
            <a:ext cx="10149840" cy="1097280"/>
          </a:xfrm>
          <a:prstGeom prst="rect">
            <a:avLst/>
          </a:prstGeom>
          <a:noFill/>
        </p:spPr>
        <p:txBody>
          <a:bodyPr wrap="square">
            <a:spAutoFit/>
          </a:bodyPr>
          <a:lstStyle/>
          <a:p>
            <a:pPr>
              <a:defRPr b="1" sz="1600">
                <a:solidFill>
                  <a:srgbClr val="D97706"/>
                </a:solidFill>
              </a:defRPr>
            </a:pPr>
            <a:r>
              <a:t>2. Pure Anomaly-Based IDS (A-IDS)</a:t>
            </a:r>
          </a:p>
          <a:p>
            <a:pPr>
              <a:defRPr sz="1300">
                <a:solidFill>
                  <a:srgbClr val="334155"/>
                </a:solidFill>
              </a:defRPr>
            </a:pPr>
            <a:r>
              <a:t>Detects novel zero-day threats, but incurs heavy per-packet matrix calculation, high CPU overhead, and high False Positive Rates (FPR).</a:t>
            </a:r>
          </a:p>
        </p:txBody>
      </p:sp>
      <p:sp>
        <p:nvSpPr>
          <p:cNvPr id="8" name="Rounded Rectangle 7"/>
          <p:cNvSpPr/>
          <p:nvPr/>
        </p:nvSpPr>
        <p:spPr>
          <a:xfrm>
            <a:off x="731520" y="475488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92040"/>
            <a:ext cx="10149840" cy="1097280"/>
          </a:xfrm>
          <a:prstGeom prst="rect">
            <a:avLst/>
          </a:prstGeom>
          <a:noFill/>
        </p:spPr>
        <p:txBody>
          <a:bodyPr wrap="square">
            <a:spAutoFit/>
          </a:bodyPr>
          <a:lstStyle/>
          <a:p>
            <a:pPr>
              <a:defRPr b="1" sz="1600">
                <a:solidFill>
                  <a:srgbClr val="0F172A"/>
                </a:solidFill>
              </a:defRPr>
            </a:pPr>
            <a:r>
              <a:t>3. Inefficient Parallel Hybrid Models</a:t>
            </a:r>
          </a:p>
          <a:p>
            <a:pPr>
              <a:defRPr sz="1300">
                <a:solidFill>
                  <a:srgbClr val="334155"/>
                </a:solidFill>
              </a:defRPr>
            </a:pPr>
            <a:r>
              <a:t>Existing hybrid systems run signature matching and ML inference in parallel, processing every packet twice and wasting edge gateway CPU cycles.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Research Aim &amp; Specific Objectives</a:t>
            </a:r>
          </a:p>
        </p:txBody>
      </p:sp>
      <p:sp>
        <p:nvSpPr>
          <p:cNvPr id="4" name="Rounded Rectangle 3"/>
          <p:cNvSpPr/>
          <p:nvPr/>
        </p:nvSpPr>
        <p:spPr>
          <a:xfrm>
            <a:off x="731520" y="1463040"/>
            <a:ext cx="10698480" cy="1097280"/>
          </a:xfrm>
          <a:prstGeom prst="roundRect">
            <a:avLst/>
          </a:prstGeom>
          <a:solidFill>
            <a:srgbClr val="EEF2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914400"/>
          </a:xfrm>
          <a:prstGeom prst="rect">
            <a:avLst/>
          </a:prstGeom>
          <a:noFill/>
        </p:spPr>
        <p:txBody>
          <a:bodyPr wrap="square">
            <a:spAutoFit/>
          </a:bodyPr>
          <a:lstStyle/>
          <a:p>
            <a:pPr>
              <a:defRPr b="1" sz="1200">
                <a:solidFill>
                  <a:srgbClr val="2563EB"/>
                </a:solidFill>
              </a:defRPr>
            </a:pPr>
            <a:r>
              <a:t>PRIMARY RESEARCH AIM:</a:t>
            </a:r>
          </a:p>
          <a:p>
            <a:pPr>
              <a:defRPr b="1" sz="1300">
                <a:solidFill>
                  <a:srgbClr val="0F172A"/>
                </a:solidFill>
              </a:defRPr>
            </a:pPr>
            <a:r>
              <a:t>To design, implement, benchmark, and evaluate IDS Forge: a lightweight Machine Learning-Based Hybrid Intrusion Detection System tailored for resource-constrained IoT networks that maximizes accuracy and zero-day threat defense while preserving sub-millisecond latency and minimal memory overhead.</a:t>
            </a:r>
          </a:p>
        </p:txBody>
      </p:sp>
      <p:sp>
        <p:nvSpPr>
          <p:cNvPr id="6" name="Rounded Rectangle 5"/>
          <p:cNvSpPr/>
          <p:nvPr/>
        </p:nvSpPr>
        <p:spPr>
          <a:xfrm>
            <a:off x="731520" y="2743200"/>
            <a:ext cx="5212080" cy="3474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26080"/>
            <a:ext cx="4846320" cy="3108960"/>
          </a:xfrm>
          <a:prstGeom prst="rect">
            <a:avLst/>
          </a:prstGeom>
          <a:noFill/>
        </p:spPr>
        <p:txBody>
          <a:bodyPr wrap="square">
            <a:spAutoFit/>
          </a:bodyPr>
          <a:lstStyle/>
          <a:p/>
          <a:p>
            <a:pPr>
              <a:defRPr sz="1200">
                <a:solidFill>
                  <a:srgbClr val="334155"/>
                </a:solidFill>
              </a:defRPr>
            </a:pPr>
            <a:r>
              <a:t>✔ Obj 1: Conduct literature review on IoT threat vectors &amp; NIDS bottlenecks.</a:t>
            </a:r>
          </a:p>
          <a:p/>
          <a:p>
            <a:pPr>
              <a:defRPr sz="1200">
                <a:solidFill>
                  <a:srgbClr val="334155"/>
                </a:solidFill>
              </a:defRPr>
            </a:pPr>
            <a:r>
              <a:t>✔ Obj 2: Preprocess &amp; normalize BoT-IoT benchmark traffic dataset (70/30 split).</a:t>
            </a:r>
          </a:p>
          <a:p/>
          <a:p>
            <a:pPr>
              <a:defRPr sz="1200">
                <a:solidFill>
                  <a:srgbClr val="334155"/>
                </a:solidFill>
              </a:defRPr>
            </a:pPr>
            <a:r>
              <a:t>✔ Obj 3: Execute 3-stage feature selection (reduce 12 features to 8 optimal attributes).</a:t>
            </a:r>
          </a:p>
          <a:p/>
          <a:p>
            <a:pPr>
              <a:defRPr sz="1200">
                <a:solidFill>
                  <a:srgbClr val="334155"/>
                </a:solidFill>
              </a:defRPr>
            </a:pPr>
            <a:r>
              <a:t>✔ Obj 4: Construct Phase 1 Signature Engine with 9 protocol-specific IoT security rules.</a:t>
            </a:r>
          </a:p>
          <a:p/>
        </p:txBody>
      </p:sp>
      <p:sp>
        <p:nvSpPr>
          <p:cNvPr id="8" name="Rounded Rectangle 7"/>
          <p:cNvSpPr/>
          <p:nvPr/>
        </p:nvSpPr>
        <p:spPr>
          <a:xfrm>
            <a:off x="6217920" y="2743200"/>
            <a:ext cx="5212080" cy="3474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926080"/>
            <a:ext cx="4846320" cy="3108960"/>
          </a:xfrm>
          <a:prstGeom prst="rect">
            <a:avLst/>
          </a:prstGeom>
          <a:noFill/>
        </p:spPr>
        <p:txBody>
          <a:bodyPr wrap="square">
            <a:spAutoFit/>
          </a:bodyPr>
          <a:lstStyle/>
          <a:p/>
          <a:p>
            <a:pPr>
              <a:defRPr sz="1200">
                <a:solidFill>
                  <a:srgbClr val="334155"/>
                </a:solidFill>
              </a:defRPr>
            </a:pPr>
            <a:r>
              <a:t>✔ Obj 5: Train &amp; benchmark Phase 2 candidate ML models (DT, RF, Gradient Boosting).</a:t>
            </a:r>
          </a:p>
          <a:p/>
          <a:p>
            <a:pPr>
              <a:defRPr sz="1200">
                <a:solidFill>
                  <a:srgbClr val="334155"/>
                </a:solidFill>
              </a:defRPr>
            </a:pPr>
            <a:r>
              <a:t>✔ Obj 6: Integrate Phase 1 &amp; 2 into a 2-Tier Sequential Hybrid Engine.</a:t>
            </a:r>
          </a:p>
          <a:p/>
          <a:p>
            <a:pPr>
              <a:defRPr sz="1200">
                <a:solidFill>
                  <a:srgbClr val="334155"/>
                </a:solidFill>
              </a:defRPr>
            </a:pPr>
            <a:r>
              <a:t>✔ Obj 7: Conduct empirical hardware overhead tracking (CPU %, RAM MB, Latency ms).</a:t>
            </a:r>
          </a:p>
          <a:p/>
          <a:p>
            <a:pPr>
              <a:defRPr sz="1200">
                <a:solidFill>
                  <a:srgbClr val="334155"/>
                </a:solidFill>
              </a:defRPr>
            </a:pPr>
            <a:r>
              <a:t>✔ Obj 8: Validate zero-day attack recall &amp; publish interactive web dashboard.</a:t>
            </a:r>
          </a:p>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Proposed System Architecture: Two-Tier Sequential Dataflow</a:t>
            </a:r>
          </a:p>
        </p:txBody>
      </p:sp>
      <p:sp>
        <p:nvSpPr>
          <p:cNvPr id="4" name="Rounded Rectangle 3"/>
          <p:cNvSpPr/>
          <p:nvPr/>
        </p:nvSpPr>
        <p:spPr>
          <a:xfrm>
            <a:off x="731520" y="1463040"/>
            <a:ext cx="24688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194560" cy="4389120"/>
          </a:xfrm>
          <a:prstGeom prst="rect">
            <a:avLst/>
          </a:prstGeom>
          <a:noFill/>
        </p:spPr>
        <p:txBody>
          <a:bodyPr wrap="square">
            <a:spAutoFit/>
          </a:bodyPr>
          <a:lstStyle/>
          <a:p>
            <a:pPr algn="ctr">
              <a:defRPr b="1" sz="1500">
                <a:solidFill>
                  <a:srgbClr val="2563EB"/>
                </a:solidFill>
              </a:defRPr>
            </a:pPr>
            <a:r>
              <a:t>Step 1: Network Ingress</a:t>
            </a:r>
          </a:p>
          <a:p/>
          <a:p>
            <a:pPr algn="ctr">
              <a:defRPr sz="1200">
                <a:solidFill>
                  <a:srgbClr val="334155"/>
                </a:solidFill>
              </a:defRPr>
            </a:pPr>
            <a:r>
              <a:t>Raw IoT Traffic Packets arrive at gateway network interface.</a:t>
            </a:r>
          </a:p>
        </p:txBody>
      </p:sp>
      <p:sp>
        <p:nvSpPr>
          <p:cNvPr id="6" name="Rounded Rectangle 5"/>
          <p:cNvSpPr/>
          <p:nvPr/>
        </p:nvSpPr>
        <p:spPr>
          <a:xfrm>
            <a:off x="3429000" y="1463040"/>
            <a:ext cx="24688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45920"/>
            <a:ext cx="2194560" cy="4389120"/>
          </a:xfrm>
          <a:prstGeom prst="rect">
            <a:avLst/>
          </a:prstGeom>
          <a:noFill/>
        </p:spPr>
        <p:txBody>
          <a:bodyPr wrap="square">
            <a:spAutoFit/>
          </a:bodyPr>
          <a:lstStyle/>
          <a:p>
            <a:pPr algn="ctr">
              <a:defRPr b="1" sz="1500">
                <a:solidFill>
                  <a:srgbClr val="1E3A8A"/>
                </a:solidFill>
              </a:defRPr>
            </a:pPr>
            <a:r>
              <a:t>Step 2: Preprocessing</a:t>
            </a:r>
          </a:p>
          <a:p/>
          <a:p>
            <a:pPr algn="ctr">
              <a:defRPr sz="1200">
                <a:solidFill>
                  <a:srgbClr val="334155"/>
                </a:solidFill>
              </a:defRPr>
            </a:pPr>
            <a:r>
              <a:t>Feature extraction &amp; Min-Max normalization [0, 1].</a:t>
            </a:r>
          </a:p>
        </p:txBody>
      </p:sp>
      <p:sp>
        <p:nvSpPr>
          <p:cNvPr id="8" name="Rounded Rectangle 7"/>
          <p:cNvSpPr/>
          <p:nvPr/>
        </p:nvSpPr>
        <p:spPr>
          <a:xfrm>
            <a:off x="6126480" y="1463040"/>
            <a:ext cx="24688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45920"/>
            <a:ext cx="2194560" cy="4389120"/>
          </a:xfrm>
          <a:prstGeom prst="rect">
            <a:avLst/>
          </a:prstGeom>
          <a:noFill/>
        </p:spPr>
        <p:txBody>
          <a:bodyPr wrap="square">
            <a:spAutoFit/>
          </a:bodyPr>
          <a:lstStyle/>
          <a:p>
            <a:pPr algn="ctr">
              <a:defRPr b="1" sz="1500">
                <a:solidFill>
                  <a:srgbClr val="10B981"/>
                </a:solidFill>
              </a:defRPr>
            </a:pPr>
            <a:r>
              <a:t>Step 3: Phase 1 Signature</a:t>
            </a:r>
          </a:p>
          <a:p/>
          <a:p>
            <a:pPr algn="ctr">
              <a:defRPr sz="1200">
                <a:solidFill>
                  <a:srgbClr val="334155"/>
                </a:solidFill>
              </a:defRPr>
            </a:pPr>
            <a:r>
              <a:t>Evaluates 9 deterministic boolean rules. If matched -&gt; IMMEDIATE BLOCK.</a:t>
            </a:r>
          </a:p>
        </p:txBody>
      </p:sp>
      <p:sp>
        <p:nvSpPr>
          <p:cNvPr id="10" name="Rounded Rectangle 9"/>
          <p:cNvSpPr/>
          <p:nvPr/>
        </p:nvSpPr>
        <p:spPr>
          <a:xfrm>
            <a:off x="8823960" y="1463040"/>
            <a:ext cx="24688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645920"/>
            <a:ext cx="2194560" cy="4389120"/>
          </a:xfrm>
          <a:prstGeom prst="rect">
            <a:avLst/>
          </a:prstGeom>
          <a:noFill/>
        </p:spPr>
        <p:txBody>
          <a:bodyPr wrap="square">
            <a:spAutoFit/>
          </a:bodyPr>
          <a:lstStyle/>
          <a:p>
            <a:pPr algn="ctr">
              <a:defRPr b="1" sz="1500">
                <a:solidFill>
                  <a:srgbClr val="0F172A"/>
                </a:solidFill>
              </a:defRPr>
            </a:pPr>
            <a:r>
              <a:t>Step 4: Phase 2 ML Anomaly</a:t>
            </a:r>
          </a:p>
          <a:p/>
          <a:p>
            <a:pPr algn="ctr">
              <a:defRPr sz="1200">
                <a:solidFill>
                  <a:srgbClr val="334155"/>
                </a:solidFill>
              </a:defRPr>
            </a:pPr>
            <a:r>
              <a:t>Unmatched flows evaluated by Random Forest (8 features) -&gt; THREAT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3-Stage Feature Selection Pipeline</a:t>
            </a:r>
          </a:p>
        </p:txBody>
      </p:sp>
      <p:sp>
        <p:nvSpPr>
          <p:cNvPr id="4" name="Rounded Rectangle 3"/>
          <p:cNvSpPr/>
          <p:nvPr/>
        </p:nvSpPr>
        <p:spPr>
          <a:xfrm>
            <a:off x="731520" y="146304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72768"/>
            <a:ext cx="10149840" cy="1097280"/>
          </a:xfrm>
          <a:prstGeom prst="rect">
            <a:avLst/>
          </a:prstGeom>
          <a:noFill/>
        </p:spPr>
        <p:txBody>
          <a:bodyPr wrap="square">
            <a:spAutoFit/>
          </a:bodyPr>
          <a:lstStyle/>
          <a:p>
            <a:pPr>
              <a:defRPr b="1" sz="1500">
                <a:solidFill>
                  <a:srgbClr val="2563EB"/>
                </a:solidFill>
              </a:defRPr>
            </a:pPr>
            <a:r>
              <a:t>Stage 1: Pearson Correlation Filter — Linear Relationship Screening</a:t>
            </a:r>
          </a:p>
          <a:p>
            <a:pPr>
              <a:defRPr sz="1150">
                <a:solidFill>
                  <a:srgbClr val="334155"/>
                </a:solidFill>
              </a:defRPr>
            </a:pPr>
            <a:r>
              <a:t>Evaluates correlation coefficient r between feature X_i and target label Y: r = \frac{\sum (X_i - \bar{X}_i)(Y - \bar{Y})}{\sqrt{\sum (X_i - \bar{X}_i)^2 \sum (Y - \bar{Y})^2}}. Discards features with r &lt; 0.40.</a:t>
            </a:r>
          </a:p>
        </p:txBody>
      </p:sp>
      <p:sp>
        <p:nvSpPr>
          <p:cNvPr id="6" name="Rounded Rectangle 5"/>
          <p:cNvSpPr/>
          <p:nvPr/>
        </p:nvSpPr>
        <p:spPr>
          <a:xfrm>
            <a:off x="731520" y="310896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18688"/>
            <a:ext cx="10149840" cy="1097280"/>
          </a:xfrm>
          <a:prstGeom prst="rect">
            <a:avLst/>
          </a:prstGeom>
          <a:noFill/>
        </p:spPr>
        <p:txBody>
          <a:bodyPr wrap="square">
            <a:spAutoFit/>
          </a:bodyPr>
          <a:lstStyle/>
          <a:p>
            <a:pPr>
              <a:defRPr b="1" sz="1500">
                <a:solidFill>
                  <a:srgbClr val="1E3A8A"/>
                </a:solidFill>
              </a:defRPr>
            </a:pPr>
            <a:r>
              <a:t>Stage 2: Information Gain / Mutual Info — Non-Linear Dependency Screening</a:t>
            </a:r>
          </a:p>
          <a:p>
            <a:pPr>
              <a:defRPr sz="1150">
                <a:solidFill>
                  <a:srgbClr val="334155"/>
                </a:solidFill>
              </a:defRPr>
            </a:pPr>
            <a:r>
              <a:t>Quantifies information gain I(X; Y) = \sum p(x,y) \log \frac{p(x,y)}{p(x)p(y)}. Measures entropy reduction H(Y) - H(Y|X) when splitting data on attribute X.</a:t>
            </a:r>
          </a:p>
        </p:txBody>
      </p:sp>
      <p:sp>
        <p:nvSpPr>
          <p:cNvPr id="8" name="Rounded Rectangle 7"/>
          <p:cNvSpPr/>
          <p:nvPr/>
        </p:nvSpPr>
        <p:spPr>
          <a:xfrm>
            <a:off x="731520" y="475488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64608"/>
            <a:ext cx="10149840" cy="1097280"/>
          </a:xfrm>
          <a:prstGeom prst="rect">
            <a:avLst/>
          </a:prstGeom>
          <a:noFill/>
        </p:spPr>
        <p:txBody>
          <a:bodyPr wrap="square">
            <a:spAutoFit/>
          </a:bodyPr>
          <a:lstStyle/>
          <a:p>
            <a:pPr>
              <a:defRPr b="1" sz="1500">
                <a:solidFill>
                  <a:srgbClr val="10B981"/>
                </a:solidFill>
              </a:defRPr>
            </a:pPr>
            <a:r>
              <a:t>Stage 3: Recursive Feature Elimination (RFE) — Wrapper Model Selection</a:t>
            </a:r>
          </a:p>
          <a:p>
            <a:pPr>
              <a:defRPr sz="1150">
                <a:solidFill>
                  <a:srgbClr val="334155"/>
                </a:solidFill>
              </a:defRPr>
            </a:pPr>
            <a:r>
              <a:t>Fits Random Forest estimator recursively, pruning least important features until top K=8 attributes remain. Reduces feature dimensionality by 33.3%.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Selected 8 Optimal Feature Attributes Dictionary</a:t>
            </a:r>
          </a:p>
        </p:txBody>
      </p:sp>
      <p:sp>
        <p:nvSpPr>
          <p:cNvPr id="4" name="Rounded Rectangle 3"/>
          <p:cNvSpPr/>
          <p:nvPr/>
        </p:nvSpPr>
        <p:spPr>
          <a:xfrm>
            <a:off x="731520" y="1463040"/>
            <a:ext cx="106984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4389120"/>
          </a:xfrm>
          <a:prstGeom prst="rect">
            <a:avLst/>
          </a:prstGeom>
          <a:noFill/>
        </p:spPr>
        <p:txBody>
          <a:bodyPr wrap="square">
            <a:spAutoFit/>
          </a:bodyPr>
          <a:lstStyle/>
          <a:p>
            <a:pPr>
              <a:defRPr b="1" sz="1400">
                <a:solidFill>
                  <a:srgbClr val="0F172A"/>
                </a:solidFill>
              </a:defRPr>
            </a:pPr>
            <a:r>
              <a:t>Top 8 Selected Features (Reduced from 12 Attributes via 3-Stage Selection):</a:t>
            </a:r>
          </a:p>
          <a:p>
            <a:r>
              <a:rPr b="1" sz="1150">
                <a:solidFill>
                  <a:srgbClr val="2563EB"/>
                </a:solidFill>
              </a:rPr>
              <a:t>1. N_IN_Conn_P_DstIP     </a:t>
            </a:r>
            <a:r>
              <a:rPr sz="1150">
                <a:solidFill>
                  <a:srgbClr val="334155"/>
                </a:solidFill>
              </a:rPr>
              <a:t>— Number of inbound connections per destination IP window (r = 0.8265, MI = 0.6729)</a:t>
            </a:r>
          </a:p>
          <a:p>
            <a:r>
              <a:rPr b="1" sz="1150">
                <a:solidFill>
                  <a:srgbClr val="2563EB"/>
                </a:solidFill>
              </a:rPr>
              <a:t>2. N_IN_Conn_P_SrcIP     </a:t>
            </a:r>
            <a:r>
              <a:rPr sz="1150">
                <a:solidFill>
                  <a:srgbClr val="334155"/>
                </a:solidFill>
              </a:rPr>
              <a:t>— Number of inbound connections per source IP window (r = 0.8066, MI = 0.6688)</a:t>
            </a:r>
          </a:p>
          <a:p>
            <a:r>
              <a:rPr b="1" sz="1150">
                <a:solidFill>
                  <a:srgbClr val="2563EB"/>
                </a:solidFill>
              </a:rPr>
              <a:t>3. max                   </a:t>
            </a:r>
            <a:r>
              <a:rPr sz="1150">
                <a:solidFill>
                  <a:srgbClr val="334155"/>
                </a:solidFill>
              </a:rPr>
              <a:t>— Maximum frame/packet duration recorded within flow window (r = 0.7847, MI = 0.5835)</a:t>
            </a:r>
          </a:p>
          <a:p>
            <a:r>
              <a:rPr b="1" sz="1150">
                <a:solidFill>
                  <a:srgbClr val="2563EB"/>
                </a:solidFill>
              </a:rPr>
              <a:t>4. srate                 </a:t>
            </a:r>
            <a:r>
              <a:rPr sz="1150">
                <a:solidFill>
                  <a:srgbClr val="334155"/>
                </a:solidFill>
              </a:rPr>
              <a:t>— Source packet transmission rate in packets per second (r = 0.6093, MI = 0.5514)</a:t>
            </a:r>
          </a:p>
          <a:p>
            <a:r>
              <a:rPr b="1" sz="1150">
                <a:solidFill>
                  <a:srgbClr val="2563EB"/>
                </a:solidFill>
              </a:rPr>
              <a:t>5. mean                  </a:t>
            </a:r>
            <a:r>
              <a:rPr sz="1150">
                <a:solidFill>
                  <a:srgbClr val="334155"/>
                </a:solidFill>
              </a:rPr>
              <a:t>— Arithmetic mean of flow packet durations (r = 0.7332, MI = 0.5410)</a:t>
            </a:r>
          </a:p>
          <a:p>
            <a:r>
              <a:rPr b="1" sz="1150">
                <a:solidFill>
                  <a:srgbClr val="2563EB"/>
                </a:solidFill>
              </a:rPr>
              <a:t>6. stddev                </a:t>
            </a:r>
            <a:r>
              <a:rPr sz="1150">
                <a:solidFill>
                  <a:srgbClr val="334155"/>
                </a:solidFill>
              </a:rPr>
              <a:t>— Standard deviation of packet inter-arrival times (r = 0.7367, MI = 0.5358)</a:t>
            </a:r>
          </a:p>
          <a:p>
            <a:r>
              <a:rPr b="1" sz="1150">
                <a:solidFill>
                  <a:srgbClr val="2563EB"/>
                </a:solidFill>
              </a:rPr>
              <a:t>7. state_number          </a:t>
            </a:r>
            <a:r>
              <a:rPr sz="1150">
                <a:solidFill>
                  <a:srgbClr val="334155"/>
                </a:solidFill>
              </a:rPr>
              <a:t>— Integer encoding connection state SYN, ESTABLISHED, FIN (r = 0.4077, MI = 0.4488)</a:t>
            </a:r>
          </a:p>
          <a:p>
            <a:r>
              <a:rPr b="1" sz="1150">
                <a:solidFill>
                  <a:srgbClr val="2563EB"/>
                </a:solidFill>
              </a:rPr>
              <a:t>8. dport                 </a:t>
            </a:r>
            <a:r>
              <a:rPr sz="1150">
                <a:solidFill>
                  <a:srgbClr val="334155"/>
                </a:solidFill>
              </a:rPr>
              <a:t>— Destination port number identifying target network service (r = 0.6126, MI = 0.3768)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Phase 1: Deterministic Signature Engine (9 Protocol Rules)</a:t>
            </a:r>
          </a:p>
        </p:txBody>
      </p:sp>
      <p:sp>
        <p:nvSpPr>
          <p:cNvPr id="4" name="Rounded Rectangle 3"/>
          <p:cNvSpPr/>
          <p:nvPr/>
        </p:nvSpPr>
        <p:spPr>
          <a:xfrm>
            <a:off x="731520" y="1463040"/>
            <a:ext cx="106984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4389120"/>
          </a:xfrm>
          <a:prstGeom prst="rect">
            <a:avLst/>
          </a:prstGeom>
          <a:noFill/>
        </p:spPr>
        <p:txBody>
          <a:bodyPr wrap="square">
            <a:spAutoFit/>
          </a:bodyPr>
          <a:lstStyle/>
          <a:p>
            <a:pPr>
              <a:defRPr b="1" sz="1400">
                <a:solidFill>
                  <a:srgbClr val="0F172A"/>
                </a:solidFill>
              </a:defRPr>
            </a:pPr>
            <a:r>
              <a:t>Deterministic Boolean Matching Logic &amp; Target Attack Vectors:</a:t>
            </a:r>
          </a:p>
          <a:p>
            <a:r>
              <a:rPr b="1" sz="1100">
                <a:solidFill>
                  <a:srgbClr val="2563EB"/>
                </a:solidFill>
              </a:rPr>
              <a:t>Rule 1 (TCP DDoS Flood):     </a:t>
            </a:r>
            <a:r>
              <a:rPr sz="1100">
                <a:solidFill>
                  <a:srgbClr val="334155"/>
                </a:solidFill>
              </a:rPr>
              <a:t>Condition: proto == 0 AND N_IN_Conn_P_SrcIP &gt;= 50           </a:t>
            </a:r>
            <a:r>
              <a:rPr b="1" sz="1100">
                <a:solidFill>
                  <a:srgbClr val="10B981"/>
                </a:solidFill>
              </a:rPr>
              <a:t>[DDoS Attack]</a:t>
            </a:r>
          </a:p>
          <a:p>
            <a:r>
              <a:rPr b="1" sz="1100">
                <a:solidFill>
                  <a:srgbClr val="2563EB"/>
                </a:solidFill>
              </a:rPr>
              <a:t>Rule 2 (UDP DDoS Flood):     </a:t>
            </a:r>
            <a:r>
              <a:rPr sz="1100">
                <a:solidFill>
                  <a:srgbClr val="334155"/>
                </a:solidFill>
              </a:rPr>
              <a:t>Condition: proto == 1 AND N_IN_Conn_P_DstIP &gt;= 50           </a:t>
            </a:r>
            <a:r>
              <a:rPr b="1" sz="1100">
                <a:solidFill>
                  <a:srgbClr val="10B981"/>
                </a:solidFill>
              </a:rPr>
              <a:t>[DDoS Attack]</a:t>
            </a:r>
          </a:p>
          <a:p>
            <a:r>
              <a:rPr b="1" sz="1100">
                <a:solidFill>
                  <a:srgbClr val="2563EB"/>
                </a:solidFill>
              </a:rPr>
              <a:t>Rule 3 (HTTP DoS Flood):     </a:t>
            </a:r>
            <a:r>
              <a:rPr sz="1100">
                <a:solidFill>
                  <a:srgbClr val="334155"/>
                </a:solidFill>
              </a:rPr>
              <a:t>Condition: dport in [80, 8080, 443] AND srate &gt;= 100.0      </a:t>
            </a:r>
            <a:r>
              <a:rPr b="1" sz="1100">
                <a:solidFill>
                  <a:srgbClr val="10B981"/>
                </a:solidFill>
              </a:rPr>
              <a:t>[DoS Attack]</a:t>
            </a:r>
          </a:p>
          <a:p>
            <a:r>
              <a:rPr b="1" sz="1100">
                <a:solidFill>
                  <a:srgbClr val="2563EB"/>
                </a:solidFill>
              </a:rPr>
              <a:t>Rule 4 (UDP DoS Flood):      </a:t>
            </a:r>
            <a:r>
              <a:rPr sz="1100">
                <a:solidFill>
                  <a:srgbClr val="334155"/>
                </a:solidFill>
              </a:rPr>
              <a:t>Condition: proto == 1 AND drate &gt;= 100.0                    </a:t>
            </a:r>
            <a:r>
              <a:rPr b="1" sz="1100">
                <a:solidFill>
                  <a:srgbClr val="10B981"/>
                </a:solidFill>
              </a:rPr>
              <a:t>[DoS Attack]</a:t>
            </a:r>
          </a:p>
          <a:p>
            <a:r>
              <a:rPr b="1" sz="1100">
                <a:solidFill>
                  <a:srgbClr val="2563EB"/>
                </a:solidFill>
              </a:rPr>
              <a:t>Rule 5 (Mirai Telnet Scan):  </a:t>
            </a:r>
            <a:r>
              <a:rPr sz="1100">
                <a:solidFill>
                  <a:srgbClr val="334155"/>
                </a:solidFill>
              </a:rPr>
              <a:t>Condition: dport == 23                                      </a:t>
            </a:r>
            <a:r>
              <a:rPr b="1" sz="1100">
                <a:solidFill>
                  <a:srgbClr val="10B981"/>
                </a:solidFill>
              </a:rPr>
              <a:t>[Reconnaissance / Mirai Botnet]</a:t>
            </a:r>
          </a:p>
          <a:p>
            <a:r>
              <a:rPr b="1" sz="1100">
                <a:solidFill>
                  <a:srgbClr val="2563EB"/>
                </a:solidFill>
              </a:rPr>
              <a:t>Rule 6 (SSH Brute-Force):    </a:t>
            </a:r>
            <a:r>
              <a:rPr sz="1100">
                <a:solidFill>
                  <a:srgbClr val="334155"/>
                </a:solidFill>
              </a:rPr>
              <a:t>Condition: dport == 22                                      </a:t>
            </a:r>
            <a:r>
              <a:rPr b="1" sz="1100">
                <a:solidFill>
                  <a:srgbClr val="10B981"/>
                </a:solidFill>
              </a:rPr>
              <a:t>[Reconnaissance / Brute-Force]</a:t>
            </a:r>
          </a:p>
          <a:p>
            <a:r>
              <a:rPr b="1" sz="1100">
                <a:solidFill>
                  <a:srgbClr val="2563EB"/>
                </a:solidFill>
              </a:rPr>
              <a:t>Rule 7 (Port Scan Sweep):    </a:t>
            </a:r>
            <a:r>
              <a:rPr sz="1100">
                <a:solidFill>
                  <a:srgbClr val="334155"/>
                </a:solidFill>
              </a:rPr>
              <a:t>Condition: stddev &gt;= 0.5 AND mean &lt;= 0.5                    </a:t>
            </a:r>
            <a:r>
              <a:rPr b="1" sz="1100">
                <a:solidFill>
                  <a:srgbClr val="10B981"/>
                </a:solidFill>
              </a:rPr>
              <a:t>[Reconnaissance Sweep]</a:t>
            </a:r>
          </a:p>
          <a:p>
            <a:r>
              <a:rPr b="1" sz="1100">
                <a:solidFill>
                  <a:srgbClr val="2563EB"/>
                </a:solidFill>
              </a:rPr>
              <a:t>Rule 8 (FTP Data Theft):     </a:t>
            </a:r>
            <a:r>
              <a:rPr sz="1100">
                <a:solidFill>
                  <a:srgbClr val="334155"/>
                </a:solidFill>
              </a:rPr>
              <a:t>Condition: dport == 21                                      </a:t>
            </a:r>
            <a:r>
              <a:rPr b="1" sz="1100">
                <a:solidFill>
                  <a:srgbClr val="10B981"/>
                </a:solidFill>
              </a:rPr>
              <a:t>[Data Exfiltration]</a:t>
            </a:r>
          </a:p>
          <a:p>
            <a:r>
              <a:rPr b="1" sz="1100">
                <a:solidFill>
                  <a:srgbClr val="2563EB"/>
                </a:solidFill>
              </a:rPr>
              <a:t>Rule 9 (Connection Anomaly): </a:t>
            </a:r>
            <a:r>
              <a:rPr sz="1100">
                <a:solidFill>
                  <a:srgbClr val="334155"/>
                </a:solidFill>
              </a:rPr>
              <a:t>Condition: N_IN_Conn_P_SrcIP &gt; 40 OR N_IN_Conn_P_DstIP &gt; 40 </a:t>
            </a:r>
            <a:r>
              <a:rPr b="1" sz="1100">
                <a:solidFill>
                  <a:srgbClr val="10B981"/>
                </a:solidFill>
              </a:rPr>
              <a:t>[Generic DoS / Anomaly]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Phase 2: Machine Learning Anomaly Detector Selection</a:t>
            </a:r>
          </a:p>
        </p:txBody>
      </p:sp>
      <p:sp>
        <p:nvSpPr>
          <p:cNvPr id="4" name="Rounded Rectangle 3"/>
          <p:cNvSpPr/>
          <p:nvPr/>
        </p:nvSpPr>
        <p:spPr>
          <a:xfrm>
            <a:off x="731520" y="146304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10149840" cy="1097280"/>
          </a:xfrm>
          <a:prstGeom prst="rect">
            <a:avLst/>
          </a:prstGeom>
          <a:noFill/>
        </p:spPr>
        <p:txBody>
          <a:bodyPr wrap="square">
            <a:spAutoFit/>
          </a:bodyPr>
          <a:lstStyle/>
          <a:p>
            <a:pPr>
              <a:defRPr b="1" sz="1600">
                <a:solidFill>
                  <a:srgbClr val="D97706"/>
                </a:solidFill>
              </a:defRPr>
            </a:pPr>
            <a:r>
              <a:t>Decision Tree (DT)</a:t>
            </a:r>
          </a:p>
          <a:p>
            <a:pPr>
              <a:defRPr sz="1200">
                <a:solidFill>
                  <a:srgbClr val="334155"/>
                </a:solidFill>
              </a:defRPr>
            </a:pPr>
            <a:r>
              <a:t>Fast microsecond inference (0.000495 ms), but suffers from structural overfitting on fluctuating live network streams.</a:t>
            </a:r>
          </a:p>
        </p:txBody>
      </p:sp>
      <p:sp>
        <p:nvSpPr>
          <p:cNvPr id="6" name="Rounded Rectangle 5"/>
          <p:cNvSpPr/>
          <p:nvPr/>
        </p:nvSpPr>
        <p:spPr>
          <a:xfrm>
            <a:off x="731520" y="310896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46120"/>
            <a:ext cx="10149840" cy="1097280"/>
          </a:xfrm>
          <a:prstGeom prst="rect">
            <a:avLst/>
          </a:prstGeom>
          <a:noFill/>
        </p:spPr>
        <p:txBody>
          <a:bodyPr wrap="square">
            <a:spAutoFit/>
          </a:bodyPr>
          <a:lstStyle/>
          <a:p>
            <a:pPr>
              <a:defRPr b="1" sz="1600">
                <a:solidFill>
                  <a:srgbClr val="10B981"/>
                </a:solidFill>
              </a:defRPr>
            </a:pPr>
            <a:r>
              <a:t>Random Forest (RF - 50 Trees)</a:t>
            </a:r>
          </a:p>
          <a:p>
            <a:pPr>
              <a:defRPr sz="1200">
                <a:solidFill>
                  <a:srgbClr val="334155"/>
                </a:solidFill>
              </a:defRPr>
            </a:pPr>
            <a:r>
              <a:t>SELECTED MODEL: Ensemble bootstrap aggregation (bagging) averages 50 de-correlated trees, suppressing noise and delivering 100% accuracy with 0.010 ms latency.</a:t>
            </a:r>
          </a:p>
        </p:txBody>
      </p:sp>
      <p:sp>
        <p:nvSpPr>
          <p:cNvPr id="8" name="Rounded Rectangle 7"/>
          <p:cNvSpPr/>
          <p:nvPr/>
        </p:nvSpPr>
        <p:spPr>
          <a:xfrm>
            <a:off x="731520" y="4754880"/>
            <a:ext cx="1069848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92040"/>
            <a:ext cx="10149840" cy="1097280"/>
          </a:xfrm>
          <a:prstGeom prst="rect">
            <a:avLst/>
          </a:prstGeom>
          <a:noFill/>
        </p:spPr>
        <p:txBody>
          <a:bodyPr wrap="square">
            <a:spAutoFit/>
          </a:bodyPr>
          <a:lstStyle/>
          <a:p>
            <a:pPr>
              <a:defRPr b="1" sz="1600">
                <a:solidFill>
                  <a:srgbClr val="0F172A"/>
                </a:solidFill>
              </a:defRPr>
            </a:pPr>
            <a:r>
              <a:t>Gradient Boosting (GBM)</a:t>
            </a:r>
          </a:p>
          <a:p>
            <a:pPr>
              <a:defRPr sz="1200">
                <a:solidFill>
                  <a:srgbClr val="334155"/>
                </a:solidFill>
              </a:defRPr>
            </a:pPr>
            <a:r>
              <a:t>Sequential boosting minimizes residual loss, achieving high accuracy but requiring 4x longer training time (0.424 s) &amp; higher inference overhead.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Experimental Setup &amp; Technology Stack</a:t>
            </a:r>
          </a:p>
        </p:txBody>
      </p:sp>
      <p:sp>
        <p:nvSpPr>
          <p:cNvPr id="4" name="Rounded Rectangle 3"/>
          <p:cNvSpPr/>
          <p:nvPr/>
        </p:nvSpPr>
        <p:spPr>
          <a:xfrm>
            <a:off x="7315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46320" cy="4389120"/>
          </a:xfrm>
          <a:prstGeom prst="rect">
            <a:avLst/>
          </a:prstGeom>
          <a:noFill/>
        </p:spPr>
        <p:txBody>
          <a:bodyPr wrap="square">
            <a:spAutoFit/>
          </a:bodyPr>
          <a:lstStyle/>
          <a:p>
            <a:pPr>
              <a:defRPr b="1" sz="1600">
                <a:solidFill>
                  <a:srgbClr val="2563EB"/>
                </a:solidFill>
              </a:defRPr>
            </a:pPr>
            <a:r>
              <a:t>Benchmark Dataset Specifications</a:t>
            </a:r>
          </a:p>
          <a:p>
            <a:pPr>
              <a:defRPr sz="1200">
                <a:solidFill>
                  <a:srgbClr val="334155"/>
                </a:solidFill>
              </a:defRPr>
            </a:pPr>
            <a:r>
              <a:t>• Dataset Schema: BoT-IoT Benchmark Dataset (Koroniotis et al., 2019).</a:t>
            </a:r>
          </a:p>
          <a:p>
            <a:pPr>
              <a:defRPr sz="1200">
                <a:solidFill>
                  <a:srgbClr val="334155"/>
                </a:solidFill>
              </a:defRPr>
            </a:pPr>
            <a:r>
              <a:t>• Total Sample Count: 10,000 network traffic flow records.</a:t>
            </a:r>
          </a:p>
          <a:p>
            <a:pPr>
              <a:defRPr sz="1200">
                <a:solidFill>
                  <a:srgbClr val="334155"/>
                </a:solidFill>
              </a:defRPr>
            </a:pPr>
            <a:r>
              <a:t>• Data Split: 70% Training Set (7,000 samples) / 30% Testing Set (3,000 samples).</a:t>
            </a:r>
          </a:p>
          <a:p>
            <a:pPr>
              <a:defRPr sz="1200">
                <a:solidFill>
                  <a:srgbClr val="334155"/>
                </a:solidFill>
              </a:defRPr>
            </a:pPr>
            <a:r>
              <a:t>• Target Attack Classes: DoS, DDoS, Reconnaissance, Data Theft / Mirai Botnet.</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b="1" sz="1600">
                <a:solidFill>
                  <a:srgbClr val="2563EB"/>
                </a:solidFill>
              </a:defRPr>
            </a:pPr>
            <a:r>
              <a:t>Software Architecture &amp; Libraries</a:t>
            </a:r>
          </a:p>
          <a:p>
            <a:pPr>
              <a:defRPr sz="1200">
                <a:solidFill>
                  <a:srgbClr val="334155"/>
                </a:solidFill>
              </a:defRPr>
            </a:pPr>
            <a:r>
              <a:t>• Programming Language: Python 3.14 (Virtual Environment .venv).</a:t>
            </a:r>
          </a:p>
          <a:p>
            <a:pPr>
              <a:defRPr sz="1200">
                <a:solidFill>
                  <a:srgbClr val="334155"/>
                </a:solidFill>
              </a:defRPr>
            </a:pPr>
            <a:r>
              <a:t>• Machine Learning: scikit-learn 1.7.1 (DT, RF, GBM, RFE).</a:t>
            </a:r>
          </a:p>
          <a:p>
            <a:pPr>
              <a:defRPr sz="1200">
                <a:solidFill>
                  <a:srgbClr val="334155"/>
                </a:solidFill>
              </a:defRPr>
            </a:pPr>
            <a:r>
              <a:t>• Data Manipulation: pandas 2.2.3, numpy 2.2.3.</a:t>
            </a:r>
          </a:p>
          <a:p>
            <a:pPr>
              <a:defRPr sz="1200">
                <a:solidFill>
                  <a:srgbClr val="334155"/>
                </a:solidFill>
              </a:defRPr>
            </a:pPr>
            <a:r>
              <a:t>• Hardware Profiling: psutil 7.0.0 (RAM RSS &amp; CPU % tracking).</a:t>
            </a:r>
          </a:p>
          <a:p>
            <a:pPr>
              <a:defRPr sz="1200">
                <a:solidFill>
                  <a:srgbClr val="334155"/>
                </a:solidFill>
              </a:defRPr>
            </a:pPr>
            <a:r>
              <a:t>• Interactive Dashboard: Streamlit 1.61.1 web UI framework.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Empirical Classification Performance Benchmark Results</a:t>
            </a:r>
          </a:p>
        </p:txBody>
      </p:sp>
      <p:sp>
        <p:nvSpPr>
          <p:cNvPr id="4" name="Rounded Rectangle 3"/>
          <p:cNvSpPr/>
          <p:nvPr/>
        </p:nvSpPr>
        <p:spPr>
          <a:xfrm>
            <a:off x="731520" y="1463040"/>
            <a:ext cx="106984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4389120"/>
          </a:xfrm>
          <a:prstGeom prst="rect">
            <a:avLst/>
          </a:prstGeom>
          <a:noFill/>
        </p:spPr>
        <p:txBody>
          <a:bodyPr wrap="square">
            <a:spAutoFit/>
          </a:bodyPr>
          <a:lstStyle/>
          <a:p>
            <a:pPr>
              <a:defRPr b="1" sz="1400">
                <a:solidFill>
                  <a:srgbClr val="0F172A"/>
                </a:solidFill>
              </a:defRPr>
            </a:pPr>
            <a:r>
              <a:t>Comparative Classification Performance Across System Configurations:</a:t>
            </a:r>
          </a:p>
          <a:p>
            <a:r>
              <a:rPr b="1" sz="1300">
                <a:solidFill>
                  <a:srgbClr val="2563EB"/>
                </a:solidFill>
              </a:rPr>
              <a:t>• Standalone Signature IDS       </a:t>
            </a:r>
            <a:r>
              <a:rPr sz="1200">
                <a:solidFill>
                  <a:srgbClr val="334155"/>
                </a:solidFill>
              </a:rPr>
              <a:t>Accuracy: 98.27%  |  Recall: 97.11%  |  FPR: 0.000%  |  Latency: 0.0275 ms</a:t>
            </a:r>
          </a:p>
          <a:p/>
          <a:p>
            <a:r>
              <a:rPr b="1" sz="1300">
                <a:solidFill>
                  <a:srgbClr val="2563EB"/>
                </a:solidFill>
              </a:rPr>
              <a:t>• Standalone ML Anomaly IDS      </a:t>
            </a:r>
            <a:r>
              <a:rPr sz="1200">
                <a:solidFill>
                  <a:srgbClr val="334155"/>
                </a:solidFill>
              </a:rPr>
              <a:t>Accuracy: 100.00%  |  Recall: 100.00%  |  FPR: 0.000%  |  Latency: 0.0101 ms</a:t>
            </a:r>
          </a:p>
          <a:p/>
          <a:p>
            <a:r>
              <a:rPr b="1" sz="1300">
                <a:solidFill>
                  <a:srgbClr val="10B981"/>
                </a:solidFill>
              </a:rPr>
              <a:t>• IDS Forge Hybrid (Proposed)    </a:t>
            </a:r>
            <a:r>
              <a:rPr sz="1200">
                <a:solidFill>
                  <a:srgbClr val="334155"/>
                </a:solidFill>
              </a:rPr>
              <a:t>Accuracy: 100.00%  |  Recall: 100.00%  |  FPR: 0.000%  |  Latency: 0.0340 ms</a:t>
            </a:r>
          </a:p>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Hardware Resource Overhead &amp; Edge Feasibility</a:t>
            </a:r>
          </a:p>
        </p:txBody>
      </p:sp>
      <p:sp>
        <p:nvSpPr>
          <p:cNvPr id="4" name="Rounded Rectangle 3"/>
          <p:cNvSpPr/>
          <p:nvPr/>
        </p:nvSpPr>
        <p:spPr>
          <a:xfrm>
            <a:off x="731520" y="1463040"/>
            <a:ext cx="3383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4389120"/>
          </a:xfrm>
          <a:prstGeom prst="rect">
            <a:avLst/>
          </a:prstGeom>
          <a:noFill/>
        </p:spPr>
        <p:txBody>
          <a:bodyPr wrap="square">
            <a:spAutoFit/>
          </a:bodyPr>
          <a:lstStyle/>
          <a:p>
            <a:pPr algn="ctr">
              <a:defRPr b="1" sz="3600">
                <a:solidFill>
                  <a:srgbClr val="2563EB"/>
                </a:solidFill>
              </a:defRPr>
            </a:pPr>
            <a:r>
              <a:t>0.034 ms</a:t>
            </a:r>
          </a:p>
          <a:p>
            <a:pPr algn="ctr">
              <a:defRPr b="1" sz="1400">
                <a:solidFill>
                  <a:srgbClr val="0F172A"/>
                </a:solidFill>
              </a:defRPr>
            </a:pPr>
            <a:r>
              <a:t>Average Per-Packet Latency</a:t>
            </a:r>
          </a:p>
          <a:p/>
          <a:p>
            <a:pPr algn="ctr">
              <a:defRPr sz="1200">
                <a:solidFill>
                  <a:srgbClr val="334155"/>
                </a:solidFill>
              </a:defRPr>
            </a:pPr>
            <a:r>
              <a:t>Microsecond execution speed enables real-time line-rate packet inspection.</a:t>
            </a:r>
          </a:p>
        </p:txBody>
      </p:sp>
      <p:sp>
        <p:nvSpPr>
          <p:cNvPr id="6" name="Rounded Rectangle 5"/>
          <p:cNvSpPr/>
          <p:nvPr/>
        </p:nvSpPr>
        <p:spPr>
          <a:xfrm>
            <a:off x="4343400" y="1463040"/>
            <a:ext cx="3383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017520" cy="4389120"/>
          </a:xfrm>
          <a:prstGeom prst="rect">
            <a:avLst/>
          </a:prstGeom>
          <a:noFill/>
        </p:spPr>
        <p:txBody>
          <a:bodyPr wrap="square">
            <a:spAutoFit/>
          </a:bodyPr>
          <a:lstStyle/>
          <a:p>
            <a:pPr algn="ctr">
              <a:defRPr b="1" sz="3600">
                <a:solidFill>
                  <a:srgbClr val="10B981"/>
                </a:solidFill>
              </a:defRPr>
            </a:pPr>
            <a:r>
              <a:t>6.2%</a:t>
            </a:r>
          </a:p>
          <a:p>
            <a:pPr algn="ctr">
              <a:defRPr b="1" sz="1400">
                <a:solidFill>
                  <a:srgbClr val="0F172A"/>
                </a:solidFill>
              </a:defRPr>
            </a:pPr>
            <a:r>
              <a:t>Average CPU Load</a:t>
            </a:r>
          </a:p>
          <a:p/>
          <a:p>
            <a:pPr algn="ctr">
              <a:defRPr sz="1200">
                <a:solidFill>
                  <a:srgbClr val="334155"/>
                </a:solidFill>
              </a:defRPr>
            </a:pPr>
            <a:r>
              <a:t>Saves &gt;68% CPU cycles compared to running standalone DPI engines.</a:t>
            </a:r>
          </a:p>
        </p:txBody>
      </p:sp>
      <p:sp>
        <p:nvSpPr>
          <p:cNvPr id="8" name="Rounded Rectangle 7"/>
          <p:cNvSpPr/>
          <p:nvPr/>
        </p:nvSpPr>
        <p:spPr>
          <a:xfrm>
            <a:off x="7955280" y="1463040"/>
            <a:ext cx="3383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645920"/>
            <a:ext cx="3017520" cy="4389120"/>
          </a:xfrm>
          <a:prstGeom prst="rect">
            <a:avLst/>
          </a:prstGeom>
          <a:noFill/>
        </p:spPr>
        <p:txBody>
          <a:bodyPr wrap="square">
            <a:spAutoFit/>
          </a:bodyPr>
          <a:lstStyle/>
          <a:p>
            <a:pPr algn="ctr">
              <a:defRPr b="1" sz="3600">
                <a:solidFill>
                  <a:srgbClr val="0F172A"/>
                </a:solidFill>
              </a:defRPr>
            </a:pPr>
            <a:r>
              <a:t>214.70 MB</a:t>
            </a:r>
          </a:p>
          <a:p>
            <a:pPr algn="ctr">
              <a:defRPr b="1" sz="1400">
                <a:solidFill>
                  <a:srgbClr val="0F172A"/>
                </a:solidFill>
              </a:defRPr>
            </a:pPr>
            <a:r>
              <a:t>RAM Memory Footprint</a:t>
            </a:r>
          </a:p>
          <a:p/>
          <a:p>
            <a:pPr algn="ctr">
              <a:defRPr sz="1200">
                <a:solidFill>
                  <a:srgbClr val="334155"/>
                </a:solidFill>
              </a:defRPr>
            </a:pPr>
            <a:r>
              <a:t>Fits comfortably within low-cost 512 MB IoT gateway memory limits.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Zero-Day Attack Detection Simulation Results</a:t>
            </a:r>
          </a:p>
        </p:txBody>
      </p:sp>
      <p:sp>
        <p:nvSpPr>
          <p:cNvPr id="4" name="Rounded Rectangle 3"/>
          <p:cNvSpPr/>
          <p:nvPr/>
        </p:nvSpPr>
        <p:spPr>
          <a:xfrm>
            <a:off x="731520" y="1463040"/>
            <a:ext cx="106984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32720" cy="4389120"/>
          </a:xfrm>
          <a:prstGeom prst="rect">
            <a:avLst/>
          </a:prstGeom>
          <a:noFill/>
        </p:spPr>
        <p:txBody>
          <a:bodyPr wrap="square">
            <a:spAutoFit/>
          </a:bodyPr>
          <a:lstStyle/>
          <a:p>
            <a:pPr>
              <a:defRPr b="1" sz="1400">
                <a:solidFill>
                  <a:srgbClr val="0F172A"/>
                </a:solidFill>
              </a:defRPr>
            </a:pPr>
            <a:r>
              <a:t>Simulated Rule-Bypass Scenario (Disabling Phase 1 Reconnaissance Rules):</a:t>
            </a:r>
          </a:p>
          <a:p>
            <a:r>
              <a:rPr b="1" sz="1200">
                <a:solidFill>
                  <a:srgbClr val="2563EB"/>
                </a:solidFill>
              </a:rPr>
              <a:t>• Denial of Service (DoS):   </a:t>
            </a:r>
            <a:r>
              <a:rPr sz="1200">
                <a:solidFill>
                  <a:srgbClr val="334155"/>
                </a:solidFill>
              </a:rPr>
              <a:t>Rules Recall: 100.00% Signature Recall  --&gt;  Hybrid Fallback Recall: 100.00% Hybrid Fallback Recall  </a:t>
            </a:r>
            <a:r>
              <a:rPr b="1" sz="1200">
                <a:solidFill>
                  <a:srgbClr val="10B981"/>
                </a:solidFill>
              </a:rPr>
              <a:t>[Maintained]</a:t>
            </a:r>
          </a:p>
          <a:p/>
          <a:p>
            <a:r>
              <a:rPr b="1" sz="1200">
                <a:solidFill>
                  <a:srgbClr val="2563EB"/>
                </a:solidFill>
              </a:rPr>
              <a:t>• Distributed DoS (DDoS):    </a:t>
            </a:r>
            <a:r>
              <a:rPr sz="1200">
                <a:solidFill>
                  <a:srgbClr val="334155"/>
                </a:solidFill>
              </a:rPr>
              <a:t>Rules Recall: 100.00% Signature Recall  --&gt;  Hybrid Fallback Recall: 100.00% Hybrid Fallback Recall  </a:t>
            </a:r>
            <a:r>
              <a:rPr b="1" sz="1200">
                <a:solidFill>
                  <a:srgbClr val="10B981"/>
                </a:solidFill>
              </a:rPr>
              <a:t>[Maintained]</a:t>
            </a:r>
          </a:p>
          <a:p/>
          <a:p>
            <a:r>
              <a:rPr b="1" sz="1200">
                <a:solidFill>
                  <a:srgbClr val="2563EB"/>
                </a:solidFill>
              </a:rPr>
              <a:t>• Reconnaissance (Zero-Day): </a:t>
            </a:r>
            <a:r>
              <a:rPr sz="1200">
                <a:solidFill>
                  <a:srgbClr val="334155"/>
                </a:solidFill>
              </a:rPr>
              <a:t>Rules Recall: 85.56% Signature Recall  --&gt;  Hybrid Fallback Recall: 100.00% Hybrid Fallback Recall  </a:t>
            </a:r>
            <a:r>
              <a:rPr b="1" sz="1200">
                <a:solidFill>
                  <a:srgbClr val="10B981"/>
                </a:solidFill>
              </a:rPr>
              <a:t>[+14.44% Improvement]</a:t>
            </a:r>
          </a:p>
          <a:p/>
          <a:p>
            <a:r>
              <a:rPr b="1" sz="1200">
                <a:solidFill>
                  <a:srgbClr val="2563EB"/>
                </a:solidFill>
              </a:rPr>
              <a:t>• Data Theft / Mirai Botnet: </a:t>
            </a:r>
            <a:r>
              <a:rPr sz="1200">
                <a:solidFill>
                  <a:srgbClr val="334155"/>
                </a:solidFill>
              </a:rPr>
              <a:t>Rules Recall: 100.00% Signature Recall  --&gt;  Hybrid Fallback Recall: 100.00% Hybrid Fallback Recall  </a:t>
            </a:r>
            <a:r>
              <a:rPr b="1" sz="1200">
                <a:solidFill>
                  <a:srgbClr val="10B981"/>
                </a:solidFill>
              </a:rPr>
              <a:t>[Maintained]</a:t>
            </a:r>
          </a:p>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latin typeface="Calibri"/>
              </a:defRPr>
            </a:pPr>
            <a:r>
              <a:t>KIU COM4901 FINAL YEAR DEFENCE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latin typeface="Calibri"/>
              </a:defRPr>
            </a:pPr>
            <a:r>
              <a:t>Software Deliverables &amp; Interactive Web Dashboard</a:t>
            </a:r>
          </a:p>
        </p:txBody>
      </p:sp>
      <p:sp>
        <p:nvSpPr>
          <p:cNvPr id="4" name="Rounded Rectangle 3"/>
          <p:cNvSpPr/>
          <p:nvPr/>
        </p:nvSpPr>
        <p:spPr>
          <a:xfrm>
            <a:off x="7315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46320" cy="4389120"/>
          </a:xfrm>
          <a:prstGeom prst="rect">
            <a:avLst/>
          </a:prstGeom>
          <a:noFill/>
        </p:spPr>
        <p:txBody>
          <a:bodyPr wrap="square">
            <a:spAutoFit/>
          </a:bodyPr>
          <a:lstStyle/>
          <a:p>
            <a:pPr>
              <a:defRPr b="1" sz="1600">
                <a:solidFill>
                  <a:srgbClr val="2563EB"/>
                </a:solidFill>
              </a:defRPr>
            </a:pPr>
            <a:r>
              <a:t>Interactive Streamlit Web App (`app.py`)</a:t>
            </a:r>
          </a:p>
          <a:p>
            <a:pPr>
              <a:defRPr sz="1200">
                <a:solidFill>
                  <a:srgbClr val="334155"/>
                </a:solidFill>
              </a:defRPr>
            </a:pPr>
            <a:r>
              <a:t>• Real-Time Packet Inspector &amp; Rule Evaluator.</a:t>
            </a:r>
          </a:p>
          <a:p>
            <a:pPr>
              <a:defRPr sz="1200">
                <a:solidFill>
                  <a:srgbClr val="334155"/>
                </a:solidFill>
              </a:defRPr>
            </a:pPr>
            <a:r>
              <a:t>• Interactive ML Model Benchmark Comparison.</a:t>
            </a:r>
          </a:p>
          <a:p>
            <a:pPr>
              <a:defRPr sz="1200">
                <a:solidFill>
                  <a:srgbClr val="334155"/>
                </a:solidFill>
              </a:defRPr>
            </a:pPr>
            <a:r>
              <a:t>• Zero-Day Threat Simulation &amp; Fallback Verification.</a:t>
            </a:r>
          </a:p>
          <a:p>
            <a:pPr>
              <a:defRPr sz="1200">
                <a:solidFill>
                  <a:srgbClr val="334155"/>
                </a:solidFill>
              </a:defRPr>
            </a:pPr>
            <a:r>
              <a:t>• Automated PDF Report &amp; Metric Log Export.</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b="1" sz="1600">
                <a:solidFill>
                  <a:srgbClr val="2563EB"/>
                </a:solidFill>
              </a:defRPr>
            </a:pPr>
            <a:r>
              <a:t>1-Click Launchers &amp; GitHub Codebase</a:t>
            </a:r>
          </a:p>
          <a:p>
            <a:pPr>
              <a:defRPr sz="1200">
                <a:solidFill>
                  <a:srgbClr val="334155"/>
                </a:solidFill>
              </a:defRPr>
            </a:pPr>
            <a:r>
              <a:t>• Windows 1-Click Batch Script: run_ids_forge.bat</a:t>
            </a:r>
          </a:p>
          <a:p>
            <a:pPr>
              <a:defRPr sz="1200">
                <a:solidFill>
                  <a:srgbClr val="334155"/>
                </a:solidFill>
              </a:defRPr>
            </a:pPr>
            <a:r>
              <a:t>• Mac / Linux Shell Script: run_ids_forge.sh</a:t>
            </a:r>
          </a:p>
          <a:p>
            <a:pPr>
              <a:defRPr sz="1200">
                <a:solidFill>
                  <a:srgbClr val="334155"/>
                </a:solidFill>
              </a:defRPr>
            </a:pPr>
            <a:r>
              <a:t>• Full Modular Package Architecture in src/</a:t>
            </a:r>
          </a:p>
          <a:p>
            <a:pPr>
              <a:defRPr sz="1200">
                <a:solidFill>
                  <a:srgbClr val="334155"/>
                </a:solidFill>
              </a:defRPr>
            </a:pPr>
            <a:r>
              <a:t>• Public Repository: https://github.com/lakmal6214/IDS-Forge-Research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457200"/>
            <a:ext cx="11277295" cy="594360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029200"/>
          </a:xfrm>
          <a:prstGeom prst="rect">
            <a:avLst/>
          </a:prstGeom>
          <a:noFill/>
        </p:spPr>
        <p:txBody>
          <a:bodyPr wrap="square">
            <a:spAutoFit/>
          </a:bodyPr>
          <a:lstStyle/>
          <a:p>
            <a:pPr>
              <a:defRPr b="1" sz="2800">
                <a:solidFill>
                  <a:srgbClr val="10B981"/>
                </a:solidFill>
              </a:defRPr>
            </a:pPr>
            <a:r>
              <a:t>Conclusion &amp; Future Work</a:t>
            </a:r>
          </a:p>
          <a:p>
            <a:r>
              <a:rPr sz="1300">
                <a:solidFill>
                  <a:srgbClr val="FFFFFF"/>
                </a:solidFill>
              </a:rPr>
              <a:t>✔ Conclusion: IDS Forge proves that combining deterministic signature matching with Random Forest anomaly classification resolves the speed vs. generalization trade-off for IoT edge gateways.</a:t>
            </a:r>
          </a:p>
          <a:p/>
          <a:p>
            <a:r>
              <a:rPr sz="1300">
                <a:solidFill>
                  <a:srgbClr val="FFFFFF"/>
                </a:solidFill>
              </a:rPr>
              <a:t>✔ Theoretical Contribution: Formulated a 3-stage feature selection methodology proving 8 statistical attributes are sufficient for multi-category IoT threat detection.</a:t>
            </a:r>
          </a:p>
          <a:p/>
          <a:p>
            <a:r>
              <a:rPr sz="1300">
                <a:solidFill>
                  <a:srgbClr val="FFFFFF"/>
                </a:solidFill>
              </a:rPr>
              <a:t>✔ Practical Contribution: Open-source, lightweight sub-millisecond HIDS ready for embedded gateway deployment (&lt;215 MB RAM).</a:t>
            </a:r>
          </a:p>
          <a:p/>
          <a:p>
            <a:r>
              <a:rPr sz="1300">
                <a:solidFill>
                  <a:srgbClr val="FFFFFF"/>
                </a:solidFill>
              </a:rPr>
              <a:t>✔ Future Directions: Physical Raspberry Pi 4 edge hardware testing, ONNX microsecond runtime export, and Deep Variational Autoencoders.</a:t>
            </a:r>
          </a:p>
          <a:p/>
          <a:p/>
          <a:p>
            <a:pPr algn="ctr">
              <a:defRPr b="1" sz="2000">
                <a:solidFill>
                  <a:srgbClr val="2563EB"/>
                </a:solidFill>
              </a:defRPr>
            </a:pPr>
            <a:r>
              <a:t>THANK YOU!  |  OPEN FOR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