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examiners and my supervisor Mr. Sahan Weerasinghe. I am R.M.L.S.B. Wijerathna, student ID 14519. Today I present my final year individual research project titled "A Machine Learning-Based Hybrid Intrusion Detection System for IoT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structured into ten key sections covering the project lifecycle from initial problem identification down to empirical benchmarking and future edge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devices now power critical infrastructure and smart homes. However, their extreme resource constraints make them prime targets for botnet recruitment. Legacy NIDS solutions designed for enterprise IT fail when deployed directly onto low-power IoT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signature engines are fast but completely blind to zero-day threats. Conversely, pure machine learning engines detect novel attacks but consume excessive CPU cycles per packet. The core problem is creating a low-latency hybrid model that balances speed and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research aim was to develop a hybrid IDS achieving 99%+ accuracy with sub-millisecond latency. I established eight specific objectives encompassing feature reduction, rule engineering, ML training, and hardware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IoT security literature reveals that network layer flooding and application credential scans constitute the majority of attack volumes. My work addresses these vectors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confirms that signature matching and anomaly detection are complementary. Sequential hybrid execution captures known threats early, reserving ML computation only for ambiguous traffic.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studies focused heavily on high-dimensional deep learning models requiring high-end GPUs. A clear research gap existed for lightweight ML feature reduction tailored for edge hardware.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system dataflow. Incoming flows enter Phase 1 first. If a rule matches, the flow is immediately flagged without invoking the ML engine, significantly reducing average latency.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engineered nine deterministic signature rules targeting the most prevalent IoT attack vectors, including Mirai scans, SSH brute-forcing, and high-rate DDoS floods.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the system lightweight, I built a 3-stage feature selection pipeline combining Pearson correlation, Information Gain, and RFE. This reduced feature dimensionality by 33% down to 8 optimal attributes.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was implemented completely in Python using scikit-learn and pandas. Testing was conducted on a 70/30 stratified train/test split.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ensured zero missing values and normalized feature distributions, preventing high-magnitude features like port numbers from dominating model splits.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benchmarked three candidate machine learning classifiers on the 8-feature dataset to select the optimal Phase 2 engine.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shown in Table 5.1, connection counts per destination and source IP yielded the highest Information Gain, proving essential for isolating DoS/DDoS floods.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classifiers achieved 100% accuracy on the test set. Random Forest was selected for Phase 2 due to its robust bagging architecture which prevents overfitting on live networks.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Hybrid IDS achieved 100% accuracy and detection rate with zero false positives, combining the zero-day defense of ML with low average latency.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simulate a zero-day attack, I disabled signature rules for reconnaissance scans. Signature recall dropped to 85.56%, but the Phase 2 Random Forest engine caught all remaining flows, achieving 100% hybrid recall.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 tracking via psutil confirmed that the Hybrid IDS consumes only 6.2% CPU and 214.7 MB RAM, proving its suitability for IoT edge gateway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ROC curves plot True Positive Rate against False Positive Rate. All models achieved perfect AUC scores of 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trade-off chart illustrates why the hybrid model represents the sweet spot for edge security: low latency combined with maximum accuracy.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Empirically, eight features proved completely sufficient for accurate classification. Sequential filtering shields the ML engine during traffic surges.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to deep learning approaches in literature, my hybrid framework reduces per-packet latency by over 95% while maintaining matching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acknowledged limitation is adversarial throttling where an attacker intentionally slows packet rates to mimic normal traffic. Future work will integrate autoencoders to counter this.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industrial deployment, exporting the trained model to ONNX runtime will reduce memory footprint below 50MB and lower latency under 10 microseconds.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all eight project objectives were successfully fulfilled, meeting all target performance criteria.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contributions of this dissertation include both a theoretical feature selection framework and a practical open-source hybrid software prototype.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research will focus on physical hardware testing on Raspberry Pi boards and ONNX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walk through the execution of the modular Python codebase.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`main.py` executes the entire pipeline end-to-end in seconds, outputting summary CSV tables and PNG figures.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generated figures are saved directly to the output folder for inclusion in research publications.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literature references foundational to this research.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Additional core references supporting the hybrid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members of the examination panel for your time and attention. I am now ready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welcome any questions or discussion regarding the methodology, implementation, or empirical findings.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Title Slide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Title: A Machine Learning-Based Hybrid Intrusion Detection System for IoT Networks</a:t>
            </a:r>
          </a:p>
          <a:p>
            <a:pPr>
              <a:spcAft>
                <a:spcPts val="1000"/>
              </a:spcAft>
              <a:defRPr sz="1800">
                <a:solidFill>
                  <a:srgbClr val="F0F4F8"/>
                </a:solidFill>
                <a:latin typeface="Inter"/>
              </a:defRPr>
            </a:pPr>
            <a:r>
              <a:t>Student Name: R.M.L.S.B. Wijerathna (ID: 14519)</a:t>
            </a:r>
          </a:p>
          <a:p>
            <a:pPr>
              <a:spcAft>
                <a:spcPts val="1000"/>
              </a:spcAft>
              <a:defRPr sz="1800">
                <a:solidFill>
                  <a:srgbClr val="F0F4F8"/>
                </a:solidFill>
                <a:latin typeface="Inter"/>
              </a:defRPr>
            </a:pPr>
            <a:r>
              <a:t>Degree: BSc (Hons) in Computer Networks and Cyber Security</a:t>
            </a:r>
          </a:p>
          <a:p>
            <a:pPr>
              <a:spcAft>
                <a:spcPts val="1000"/>
              </a:spcAft>
              <a:defRPr sz="1800">
                <a:solidFill>
                  <a:srgbClr val="F0F4F8"/>
                </a:solidFill>
                <a:latin typeface="Inter"/>
              </a:defRPr>
            </a:pPr>
            <a:r>
              <a:t>Supervisor: Mr. Sahan Weerasinghe</a:t>
            </a:r>
          </a:p>
          <a:p>
            <a:pPr>
              <a:spcAft>
                <a:spcPts val="1000"/>
              </a:spcAft>
              <a:defRPr sz="1800">
                <a:solidFill>
                  <a:srgbClr val="F0F4F8"/>
                </a:solidFill>
                <a:latin typeface="Inter"/>
              </a:defRPr>
            </a:pPr>
            <a:r>
              <a:t>Module: COM4901 Final Year Individual Project</a:t>
            </a:r>
          </a:p>
          <a:p>
            <a:pPr>
              <a:spcAft>
                <a:spcPts val="1000"/>
              </a:spcAft>
              <a:defRPr sz="1800">
                <a:solidFill>
                  <a:srgbClr val="F0F4F8"/>
                </a:solidFill>
                <a:latin typeface="Inter"/>
              </a:defRPr>
            </a:pPr>
            <a:r>
              <a:t>University: KIU University, Sri Lanka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Presentation Agenda</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1. Introduction &amp; Research Motivation</a:t>
            </a:r>
          </a:p>
          <a:p>
            <a:pPr>
              <a:spcAft>
                <a:spcPts val="1000"/>
              </a:spcAft>
              <a:defRPr sz="1800">
                <a:solidFill>
                  <a:srgbClr val="F0F4F8"/>
                </a:solidFill>
                <a:latin typeface="Inter"/>
              </a:defRPr>
            </a:pPr>
            <a:r>
              <a:t>2. Problem Statement &amp; Research Questions</a:t>
            </a:r>
          </a:p>
          <a:p>
            <a:pPr>
              <a:spcAft>
                <a:spcPts val="1000"/>
              </a:spcAft>
              <a:defRPr sz="1800">
                <a:solidFill>
                  <a:srgbClr val="F0F4F8"/>
                </a:solidFill>
                <a:latin typeface="Inter"/>
              </a:defRPr>
            </a:pPr>
            <a:r>
              <a:t>3. Literature Review &amp; Research Gaps</a:t>
            </a:r>
          </a:p>
          <a:p>
            <a:pPr>
              <a:spcAft>
                <a:spcPts val="1000"/>
              </a:spcAft>
              <a:defRPr sz="1800">
                <a:solidFill>
                  <a:srgbClr val="F0F4F8"/>
                </a:solidFill>
                <a:latin typeface="Inter"/>
              </a:defRPr>
            </a:pPr>
            <a:r>
              <a:t>4. Proposed System Architecture &amp; Methodology</a:t>
            </a:r>
          </a:p>
          <a:p>
            <a:pPr>
              <a:spcAft>
                <a:spcPts val="1000"/>
              </a:spcAft>
              <a:defRPr sz="1800">
                <a:solidFill>
                  <a:srgbClr val="F0F4F8"/>
                </a:solidFill>
                <a:latin typeface="Inter"/>
              </a:defRPr>
            </a:pPr>
            <a:r>
              <a:t>5. 3-Stage Feature Selection Pipeline</a:t>
            </a:r>
          </a:p>
          <a:p>
            <a:pPr>
              <a:spcAft>
                <a:spcPts val="1000"/>
              </a:spcAft>
              <a:defRPr sz="1800">
                <a:solidFill>
                  <a:srgbClr val="F0F4F8"/>
                </a:solidFill>
                <a:latin typeface="Inter"/>
              </a:defRPr>
            </a:pPr>
            <a:r>
              <a:t>6. Phase 1 Signature Engine &amp; Phase 2 ML Classifier</a:t>
            </a:r>
          </a:p>
          <a:p>
            <a:pPr>
              <a:spcAft>
                <a:spcPts val="1000"/>
              </a:spcAft>
              <a:defRPr sz="1800">
                <a:solidFill>
                  <a:srgbClr val="F0F4F8"/>
                </a:solidFill>
                <a:latin typeface="Inter"/>
              </a:defRPr>
            </a:pPr>
            <a:r>
              <a:t>7. Empirical Results &amp; Performance Benchmark</a:t>
            </a:r>
          </a:p>
          <a:p>
            <a:pPr>
              <a:spcAft>
                <a:spcPts val="1000"/>
              </a:spcAft>
              <a:defRPr sz="1800">
                <a:solidFill>
                  <a:srgbClr val="F0F4F8"/>
                </a:solidFill>
                <a:latin typeface="Inter"/>
              </a:defRPr>
            </a:pPr>
            <a:r>
              <a:t>8. Zero-Day Simulation &amp; Hardware Overhead</a:t>
            </a:r>
          </a:p>
          <a:p>
            <a:pPr>
              <a:spcAft>
                <a:spcPts val="1000"/>
              </a:spcAft>
              <a:defRPr sz="1800">
                <a:solidFill>
                  <a:srgbClr val="F0F4F8"/>
                </a:solidFill>
                <a:latin typeface="Inter"/>
              </a:defRPr>
            </a:pPr>
            <a:r>
              <a:t>9. Conclusion &amp; Future Work</a:t>
            </a:r>
          </a:p>
          <a:p>
            <a:pPr>
              <a:spcAft>
                <a:spcPts val="1000"/>
              </a:spcAft>
              <a:defRPr sz="1800">
                <a:solidFill>
                  <a:srgbClr val="F0F4F8"/>
                </a:solidFill>
                <a:latin typeface="Inter"/>
              </a:defRPr>
            </a:pPr>
            <a:r>
              <a:t>10. System Live Demonstration &amp;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Project Background &amp; Motivation</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Exponential IoT Growth: Over 30 billion connected IoT devices worldwide.</a:t>
            </a:r>
          </a:p>
          <a:p>
            <a:pPr>
              <a:spcAft>
                <a:spcPts val="1000"/>
              </a:spcAft>
              <a:defRPr sz="1800">
                <a:solidFill>
                  <a:srgbClr val="F0F4F8"/>
                </a:solidFill>
                <a:latin typeface="Inter"/>
              </a:defRPr>
            </a:pPr>
            <a:r>
              <a:t>Resource Constraints: Low CPU frequency, RAM restricted to &lt;512MB, limited battery power.</a:t>
            </a:r>
          </a:p>
          <a:p>
            <a:pPr>
              <a:spcAft>
                <a:spcPts val="1000"/>
              </a:spcAft>
              <a:defRPr sz="1800">
                <a:solidFill>
                  <a:srgbClr val="F0F4F8"/>
                </a:solidFill>
                <a:latin typeface="Inter"/>
              </a:defRPr>
            </a:pPr>
            <a:r>
              <a:t>Security Crisis: Proliferation of Mirai, Bashlite, and DDoS botnets.</a:t>
            </a:r>
          </a:p>
          <a:p>
            <a:pPr>
              <a:spcAft>
                <a:spcPts val="1000"/>
              </a:spcAft>
              <a:defRPr sz="1800">
                <a:solidFill>
                  <a:srgbClr val="F0F4F8"/>
                </a:solidFill>
                <a:latin typeface="Inter"/>
              </a:defRPr>
            </a:pPr>
            <a:r>
              <a:t>Legacy NIDS Failure: Snort/Suricata cause severe latency and memory exhaustion on IoT edge gateways.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Problem Statement</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Pure Signature-Based IDS (S-IDS): Sub-millisecond latency, but 0% detection against novel zero-day attacks.</a:t>
            </a:r>
          </a:p>
          <a:p>
            <a:pPr>
              <a:spcAft>
                <a:spcPts val="1000"/>
              </a:spcAft>
              <a:defRPr sz="1800">
                <a:solidFill>
                  <a:srgbClr val="F0F4F8"/>
                </a:solidFill>
                <a:latin typeface="Inter"/>
              </a:defRPr>
            </a:pPr>
            <a:r>
              <a:t>Pure Anomaly-Based IDS (A-IDS): Detects zero-days, but incurs high CPU load, high inference latency, and elevated false positive rates.</a:t>
            </a:r>
          </a:p>
          <a:p>
            <a:pPr>
              <a:spcAft>
                <a:spcPts val="1000"/>
              </a:spcAft>
              <a:defRPr sz="1800">
                <a:solidFill>
                  <a:srgbClr val="F0F4F8"/>
                </a:solidFill>
                <a:latin typeface="Inter"/>
              </a:defRPr>
            </a:pPr>
            <a:r>
              <a:t>Research Gap: Need for an optimized hybrid architecture that combines fast signature filtering with feature-reduced ML anomaly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Research Questions &amp; Project Aim</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Primary Aim: Develop a lightweight Hybrid IDS that maximizes detection accuracy and zero-day defense while minimizing latency and memory overhead.</a:t>
            </a:r>
          </a:p>
          <a:p>
            <a:pPr>
              <a:spcAft>
                <a:spcPts val="1000"/>
              </a:spcAft>
              <a:defRPr sz="1800">
                <a:solidFill>
                  <a:srgbClr val="F0F4F8"/>
                </a:solidFill>
                <a:latin typeface="Inter"/>
              </a:defRPr>
            </a:pPr>
            <a:r>
              <a:t>Primary Question: Can signature rules and ML anomaly detection be integrated to achieve &gt;=99% accuracy with sub-millisecond per-packet latency?</a:t>
            </a:r>
          </a:p>
          <a:p>
            <a:pPr>
              <a:spcAft>
                <a:spcPts val="1000"/>
              </a:spcAft>
              <a:defRPr sz="1800">
                <a:solidFill>
                  <a:srgbClr val="F0F4F8"/>
                </a:solidFill>
                <a:latin typeface="Inter"/>
              </a:defRPr>
            </a:pPr>
            <a:r>
              <a:t>Key Objectives: 3-stage feature selection (12 to 8 features), 9 signature rules implementation, ML classifier benchmarking, and empirical zero-day validation.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Literature Review - IoT Security Landscape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Perception Layer: Sensor tampering, physical compromise.</a:t>
            </a:r>
          </a:p>
          <a:p>
            <a:pPr>
              <a:spcAft>
                <a:spcPts val="1000"/>
              </a:spcAft>
              <a:defRPr sz="1800">
                <a:solidFill>
                  <a:srgbClr val="F0F4F8"/>
                </a:solidFill>
                <a:latin typeface="Inter"/>
              </a:defRPr>
            </a:pPr>
            <a:r>
              <a:t>Network Layer: DoS/DDoS flooding, MQTT/CoAP sniffing, port scanning.</a:t>
            </a:r>
          </a:p>
          <a:p>
            <a:pPr>
              <a:spcAft>
                <a:spcPts val="1000"/>
              </a:spcAft>
              <a:defRPr sz="1800">
                <a:solidFill>
                  <a:srgbClr val="F0F4F8"/>
                </a:solidFill>
                <a:latin typeface="Inter"/>
              </a:defRPr>
            </a:pPr>
            <a:r>
              <a:t>Application Layer: Telnet/SSH credential brute-forcing (Mirai).</a:t>
            </a:r>
          </a:p>
          <a:p>
            <a:pPr>
              <a:spcAft>
                <a:spcPts val="1000"/>
              </a:spcAft>
              <a:defRPr sz="1800">
                <a:solidFill>
                  <a:srgbClr val="F0F4F8"/>
                </a:solidFill>
                <a:latin typeface="Inter"/>
              </a:defRPr>
            </a:pPr>
            <a:r>
              <a:t>Key Reference: Kolias et al. (2017) Analysis of Mirai botnet dynamics.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Literature Review - S-IDS vs. A-IDS Comparison</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S-IDS (Bostani &amp; Sheikhan, 2017): Deterministic, fast, zero FPR for known rules, fails on zero-days.</a:t>
            </a:r>
          </a:p>
          <a:p>
            <a:pPr>
              <a:spcAft>
                <a:spcPts val="1000"/>
              </a:spcAft>
              <a:defRPr sz="1800">
                <a:solidFill>
                  <a:srgbClr val="F0F4F8"/>
                </a:solidFill>
                <a:latin typeface="Inter"/>
              </a:defRPr>
            </a:pPr>
            <a:r>
              <a:t>A-IDS (Diro &amp; Chilamkurti, 2018): High generalization, heavy computation, higher FPR.</a:t>
            </a:r>
          </a:p>
          <a:p>
            <a:pPr>
              <a:spcAft>
                <a:spcPts val="1000"/>
              </a:spcAft>
              <a:defRPr sz="1800">
                <a:solidFill>
                  <a:srgbClr val="F0F4F8"/>
                </a:solidFill>
                <a:latin typeface="Inter"/>
              </a:defRPr>
            </a:pPr>
            <a:r>
              <a:t>Conclusion: A 2-tier sequential hybrid model is theoretically optimal.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Literature Review - Machine Learning &amp; Feature Selection</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Classifiers: Decision Trees, Random Forest (Koroniotis et al., 2019), Gradient Boosting.</a:t>
            </a:r>
          </a:p>
          <a:p>
            <a:pPr>
              <a:spcAft>
                <a:spcPts val="1000"/>
              </a:spcAft>
              <a:defRPr sz="1800">
                <a:solidFill>
                  <a:srgbClr val="F0F4F8"/>
                </a:solidFill>
                <a:latin typeface="Inter"/>
              </a:defRPr>
            </a:pPr>
            <a:r>
              <a:t>Feature Selection: Filter methods (Pearson, Mutual Info) vs Wrapper methods (RFE).</a:t>
            </a:r>
          </a:p>
          <a:p>
            <a:pPr>
              <a:spcAft>
                <a:spcPts val="1000"/>
              </a:spcAft>
              <a:defRPr sz="1800">
                <a:solidFill>
                  <a:srgbClr val="F0F4F8"/>
                </a:solidFill>
                <a:latin typeface="Inter"/>
              </a:defRPr>
            </a:pPr>
            <a:r>
              <a:t>Research Gap: Few studies combine multi-stage feature reduction with hardware resource evaluation (CPU % &amp; RAM MB).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Proposed System Architecture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Layer 1: Ingestion &amp; Min-Max Scaling (8 Features).</a:t>
            </a:r>
          </a:p>
          <a:p>
            <a:pPr>
              <a:spcAft>
                <a:spcPts val="1000"/>
              </a:spcAft>
              <a:defRPr sz="1800">
                <a:solidFill>
                  <a:srgbClr val="F0F4F8"/>
                </a:solidFill>
                <a:latin typeface="Inter"/>
              </a:defRPr>
            </a:pPr>
            <a:r>
              <a:t>Layer 2 (Phase 1): Deterministic Signature Engine (9 Rules).</a:t>
            </a:r>
          </a:p>
          <a:p>
            <a:pPr>
              <a:spcAft>
                <a:spcPts val="1000"/>
              </a:spcAft>
              <a:defRPr sz="1800">
                <a:solidFill>
                  <a:srgbClr val="F0F4F8"/>
                </a:solidFill>
                <a:latin typeface="Inter"/>
              </a:defRPr>
            </a:pPr>
            <a:r>
              <a:t>Layer 3 (Phase 2): Fallback Random Forest ML Classifier.</a:t>
            </a:r>
          </a:p>
          <a:p>
            <a:pPr>
              <a:spcAft>
                <a:spcPts val="1000"/>
              </a:spcAft>
              <a:defRPr sz="1800">
                <a:solidFill>
                  <a:srgbClr val="F0F4F8"/>
                </a:solidFill>
                <a:latin typeface="Inter"/>
              </a:defRPr>
            </a:pPr>
            <a:r>
              <a:t>Outcome: Bypasses ML inference for ~90% of signature-matched attack flows.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Phase 1 Signature Rules Specification</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Rule 1 &amp; 2: TCP/UDP DDoS Flood (`src_conn` / `dst_conn &gt;= 50`).</a:t>
            </a:r>
          </a:p>
          <a:p>
            <a:pPr>
              <a:spcAft>
                <a:spcPts val="1000"/>
              </a:spcAft>
              <a:defRPr sz="1800">
                <a:solidFill>
                  <a:srgbClr val="F0F4F8"/>
                </a:solidFill>
                <a:latin typeface="Inter"/>
              </a:defRPr>
            </a:pPr>
            <a:r>
              <a:t>Rule 3 &amp; 4: HTTP/UDP DoS Flood (`srate` / `drate &gt;= 100.0`).</a:t>
            </a:r>
          </a:p>
          <a:p>
            <a:pPr>
              <a:spcAft>
                <a:spcPts val="1000"/>
              </a:spcAft>
              <a:defRPr sz="1800">
                <a:solidFill>
                  <a:srgbClr val="F0F4F8"/>
                </a:solidFill>
                <a:latin typeface="Inter"/>
              </a:defRPr>
            </a:pPr>
            <a:r>
              <a:t>Rule 5 &amp; 6: Telnet Mirai Scan (`dport=23`) / SSH Brute-Force (`dport=22`).</a:t>
            </a:r>
          </a:p>
          <a:p>
            <a:pPr>
              <a:spcAft>
                <a:spcPts val="1000"/>
              </a:spcAft>
              <a:defRPr sz="1800">
                <a:solidFill>
                  <a:srgbClr val="F0F4F8"/>
                </a:solidFill>
                <a:latin typeface="Inter"/>
              </a:defRPr>
            </a:pPr>
            <a:r>
              <a:t>Rule 7 &amp; 8: Recon Sweep (`stddev&gt;=0.5`, `mean&lt;=0.5`) / FTP Exfiltration (`dport=21`).</a:t>
            </a:r>
          </a:p>
          <a:p>
            <a:pPr>
              <a:spcAft>
                <a:spcPts val="1000"/>
              </a:spcAft>
              <a:defRPr sz="1800">
                <a:solidFill>
                  <a:srgbClr val="F0F4F8"/>
                </a:solidFill>
                <a:latin typeface="Inter"/>
              </a:defRPr>
            </a:pPr>
            <a:r>
              <a:t>Rule 9: High Connection Anomaly (`conn &gt;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3-Stage Feature Selection Pipeline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Original Features: 12 network attributes (BoT-IoT schema).</a:t>
            </a:r>
          </a:p>
          <a:p>
            <a:pPr>
              <a:spcAft>
                <a:spcPts val="1000"/>
              </a:spcAft>
              <a:defRPr sz="1800">
                <a:solidFill>
                  <a:srgbClr val="F0F4F8"/>
                </a:solidFill>
                <a:latin typeface="Inter"/>
              </a:defRPr>
            </a:pPr>
            <a:r>
              <a:t>Stage 1 (Filter): Pearson Correlation Analysis ($|r|$ ranking).</a:t>
            </a:r>
          </a:p>
          <a:p>
            <a:pPr>
              <a:spcAft>
                <a:spcPts val="1000"/>
              </a:spcAft>
              <a:defRPr sz="1800">
                <a:solidFill>
                  <a:srgbClr val="F0F4F8"/>
                </a:solidFill>
                <a:latin typeface="Inter"/>
              </a:defRPr>
            </a:pPr>
            <a:r>
              <a:t>Stage 2 (Filter): Information Gain / Mutual Information.</a:t>
            </a:r>
          </a:p>
          <a:p>
            <a:pPr>
              <a:spcAft>
                <a:spcPts val="1000"/>
              </a:spcAft>
              <a:defRPr sz="1800">
                <a:solidFill>
                  <a:srgbClr val="F0F4F8"/>
                </a:solidFill>
                <a:latin typeface="Inter"/>
              </a:defRPr>
            </a:pPr>
            <a:r>
              <a:t>Stage 3 (Wrapper): Recursive Feature Elimination (RFE) with Random Forest.</a:t>
            </a:r>
          </a:p>
          <a:p>
            <a:pPr>
              <a:spcAft>
                <a:spcPts val="1000"/>
              </a:spcAft>
              <a:defRPr sz="1800">
                <a:solidFill>
                  <a:srgbClr val="F0F4F8"/>
                </a:solidFill>
                <a:latin typeface="Inter"/>
              </a:defRPr>
            </a:pPr>
            <a:r>
              <a:t>Selected Features (8): `N_IN_Conn_P_DstIP`, `N_IN_Conn_P_SrcIP`, `max`, `srate`, `mean`, `stddev`, `state_number`, `dport`.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Development Environment &amp; Tech Stack</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Language &amp; OS: Python 3.14 on Windows 11.</a:t>
            </a:r>
          </a:p>
          <a:p>
            <a:pPr>
              <a:spcAft>
                <a:spcPts val="1000"/>
              </a:spcAft>
              <a:defRPr sz="1800">
                <a:solidFill>
                  <a:srgbClr val="F0F4F8"/>
                </a:solidFill>
                <a:latin typeface="Inter"/>
              </a:defRPr>
            </a:pPr>
            <a:r>
              <a:t>Core Libraries: `scikit-learn`, `pandas`, `numpy`, `matplotlib`, `seaborn`, `psutil`.</a:t>
            </a:r>
          </a:p>
          <a:p>
            <a:pPr>
              <a:spcAft>
                <a:spcPts val="1000"/>
              </a:spcAft>
              <a:defRPr sz="1800">
                <a:solidFill>
                  <a:srgbClr val="F0F4F8"/>
                </a:solidFill>
                <a:latin typeface="Inter"/>
              </a:defRPr>
            </a:pPr>
            <a:r>
              <a:t>Dataset: Benchmark IoT Network Dataset (BoT-IoT Schema, 10,000 samples).</a:t>
            </a:r>
          </a:p>
          <a:p>
            <a:pPr>
              <a:spcAft>
                <a:spcPts val="1000"/>
              </a:spcAft>
              <a:defRPr sz="1800">
                <a:solidFill>
                  <a:srgbClr val="F0F4F8"/>
                </a:solidFill>
                <a:latin typeface="Inter"/>
              </a:defRPr>
            </a:pPr>
            <a:r>
              <a:t>Split: 70% Training (7,000 samples), 30% Testing (3,000 samples).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Dataset Preprocessing &amp; Scaling</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Missing Values: Handled via forward-fill (`ffill`) and back-fill (`bfill`).</a:t>
            </a:r>
          </a:p>
          <a:p>
            <a:pPr>
              <a:spcAft>
                <a:spcPts val="1000"/>
              </a:spcAft>
              <a:defRPr sz="1800">
                <a:solidFill>
                  <a:srgbClr val="F0F4F8"/>
                </a:solidFill>
                <a:latin typeface="Inter"/>
              </a:defRPr>
            </a:pPr>
            <a:r>
              <a:t>Label Encoding: Protocols mapped (`TCP=0`, `UDP=1`, `HTTP=2`, etc.).</a:t>
            </a:r>
          </a:p>
          <a:p>
            <a:pPr>
              <a:spcAft>
                <a:spcPts val="1000"/>
              </a:spcAft>
              <a:defRPr sz="1800">
                <a:solidFill>
                  <a:srgbClr val="F0F4F8"/>
                </a:solidFill>
                <a:latin typeface="Inter"/>
              </a:defRPr>
            </a:pPr>
            <a:r>
              <a:t>Feature Scaling: Min-Max Normalization to scale values into $[0,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Phase 2 ML Classifier Benchmark Setup</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Classifiers Evaluated:</a:t>
            </a:r>
          </a:p>
          <a:p>
            <a:pPr>
              <a:spcAft>
                <a:spcPts val="1000"/>
              </a:spcAft>
              <a:defRPr sz="1800">
                <a:solidFill>
                  <a:srgbClr val="F0F4F8"/>
                </a:solidFill>
                <a:latin typeface="Inter"/>
              </a:defRPr>
            </a:pPr>
            <a:r>
              <a:t>1. Decision Tree (Baseline single tree).</a:t>
            </a:r>
          </a:p>
          <a:p>
            <a:pPr>
              <a:spcAft>
                <a:spcPts val="1000"/>
              </a:spcAft>
              <a:defRPr sz="1800">
                <a:solidFill>
                  <a:srgbClr val="F0F4F8"/>
                </a:solidFill>
                <a:latin typeface="Inter"/>
              </a:defRPr>
            </a:pPr>
            <a:r>
              <a:t>2. Random Forest (50 Estimators, Parallel execution).</a:t>
            </a:r>
          </a:p>
          <a:p>
            <a:pPr>
              <a:spcAft>
                <a:spcPts val="1000"/>
              </a:spcAft>
              <a:defRPr sz="1800">
                <a:solidFill>
                  <a:srgbClr val="F0F4F8"/>
                </a:solidFill>
                <a:latin typeface="Inter"/>
              </a:defRPr>
            </a:pPr>
            <a:r>
              <a:t>3. Gradient Boosting Classifier (Sequential boosting).</a:t>
            </a:r>
          </a:p>
          <a:p>
            <a:pPr>
              <a:spcAft>
                <a:spcPts val="1000"/>
              </a:spcAft>
              <a:defRPr sz="1800">
                <a:solidFill>
                  <a:srgbClr val="F0F4F8"/>
                </a:solidFill>
                <a:latin typeface="Inter"/>
              </a:defRPr>
            </a:pPr>
            <a:r>
              <a:t>Metrics Tracked: Accuracy, Precision, Recall, F1-Score, Training Time (s), Inference Latency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Empirical Results - Feature Selection Outcome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Top Features: Destination &amp; Source Connection Counts (Correlation &gt; 0.80, IG &gt; 0.66).</a:t>
            </a:r>
          </a:p>
          <a:p>
            <a:pPr>
              <a:spcAft>
                <a:spcPts val="1000"/>
              </a:spcAft>
              <a:defRPr sz="1800">
                <a:solidFill>
                  <a:srgbClr val="F0F4F8"/>
                </a:solidFill>
                <a:latin typeface="Inter"/>
              </a:defRPr>
            </a:pPr>
            <a:r>
              <a:t>Eliminated Features: `sport`, `drate`, `proto`, `min` (Low information gain).</a:t>
            </a:r>
          </a:p>
          <a:p>
            <a:pPr>
              <a:spcAft>
                <a:spcPts val="1000"/>
              </a:spcAft>
              <a:defRPr sz="1800">
                <a:solidFill>
                  <a:srgbClr val="F0F4F8"/>
                </a:solidFill>
                <a:latin typeface="Inter"/>
              </a:defRPr>
            </a:pPr>
            <a:r>
              <a:t>Key Insight: Flow connection rates provide maximum discriminatory power for IoT attacks.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Empirical Results - Classifier Comparison Table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Decision Tree: Acc: 100.00%, Train: 0.0085s, Latency: 0.000375 ms/pkt.</a:t>
            </a:r>
          </a:p>
          <a:p>
            <a:pPr>
              <a:spcAft>
                <a:spcPts val="1000"/>
              </a:spcAft>
              <a:defRPr sz="1800">
                <a:solidFill>
                  <a:srgbClr val="F0F4F8"/>
                </a:solidFill>
                <a:latin typeface="Inter"/>
              </a:defRPr>
            </a:pPr>
            <a:r>
              <a:t>Random Forest: Acc: 100.00%, Train: 0.0943s, Latency: 0.005206 ms/pkt.</a:t>
            </a:r>
          </a:p>
          <a:p>
            <a:pPr>
              <a:spcAft>
                <a:spcPts val="1000"/>
              </a:spcAft>
              <a:defRPr sz="1800">
                <a:solidFill>
                  <a:srgbClr val="F0F4F8"/>
                </a:solidFill>
                <a:latin typeface="Inter"/>
              </a:defRPr>
            </a:pPr>
            <a:r>
              <a:t>Gradient Boosting: Acc: 100.00%, Train: 0.4092s, Latency: 0.000630 ms/pkt.</a:t>
            </a:r>
          </a:p>
          <a:p>
            <a:pPr>
              <a:spcAft>
                <a:spcPts val="1000"/>
              </a:spcAft>
              <a:defRPr sz="1800">
                <a:solidFill>
                  <a:srgbClr val="F0F4F8"/>
                </a:solidFill>
                <a:latin typeface="Inter"/>
              </a:defRPr>
            </a:pPr>
            <a:r>
              <a:t>Selection: Random Forest selected for superior ensemble stability.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Empirical Results - Hybrid IDS Performance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Signature Only: Accuracy: 98.27%, Recall: 97.11%, FPR: 0.000%, Zero-Day Capable: No.</a:t>
            </a:r>
          </a:p>
          <a:p>
            <a:pPr>
              <a:spcAft>
                <a:spcPts val="1000"/>
              </a:spcAft>
              <a:defRPr sz="1800">
                <a:solidFill>
                  <a:srgbClr val="F0F4F8"/>
                </a:solidFill>
                <a:latin typeface="Inter"/>
              </a:defRPr>
            </a:pPr>
            <a:r>
              <a:t>ML Anomaly Only: Accuracy: 100.00%, Recall: 100.00%, FPR: 0.000%, Zero-Day Capable: Yes.</a:t>
            </a:r>
          </a:p>
          <a:p>
            <a:pPr>
              <a:spcAft>
                <a:spcPts val="1000"/>
              </a:spcAft>
              <a:defRPr sz="1800">
                <a:solidFill>
                  <a:srgbClr val="F0F4F8"/>
                </a:solidFill>
                <a:latin typeface="Inter"/>
              </a:defRPr>
            </a:pPr>
            <a:r>
              <a:t>Hybrid IDS (Proposed): Accuracy: 100.00%, Recall: 100.00%, FPR: 0.000%, Latency: 0.0340 ms/pkt, Zero-Day Capable: Yes.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Zero-Day Attack Simulation Results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Scenario: Disabled Phase 1 signature rules targeting Reconnaissance attacks.</a:t>
            </a:r>
          </a:p>
          <a:p>
            <a:pPr>
              <a:spcAft>
                <a:spcPts val="1000"/>
              </a:spcAft>
              <a:defRPr sz="1800">
                <a:solidFill>
                  <a:srgbClr val="F0F4F8"/>
                </a:solidFill>
                <a:latin typeface="Inter"/>
              </a:defRPr>
            </a:pPr>
            <a:r>
              <a:t>Signature-Only Recall: Dropped to 85.56% (Failed to catch novel scans).</a:t>
            </a:r>
          </a:p>
          <a:p>
            <a:pPr>
              <a:spcAft>
                <a:spcPts val="1000"/>
              </a:spcAft>
              <a:defRPr sz="1800">
                <a:solidFill>
                  <a:srgbClr val="F0F4F8"/>
                </a:solidFill>
                <a:latin typeface="Inter"/>
              </a:defRPr>
            </a:pPr>
            <a:r>
              <a:t>Hybrid IDS Recall: 100.00% (Phase 2 ML intercepted all 100% of bypassed flows).</a:t>
            </a:r>
          </a:p>
          <a:p>
            <a:pPr>
              <a:spcAft>
                <a:spcPts val="1000"/>
              </a:spcAft>
              <a:defRPr sz="1800">
                <a:solidFill>
                  <a:srgbClr val="F0F4F8"/>
                </a:solidFill>
                <a:latin typeface="Inter"/>
              </a:defRPr>
            </a:pPr>
            <a:r>
              <a:t>Conclusion: Proves robust zero-day defense capabilities.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Hardware Resource Overhead Analysis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CPU Load: Hybrid IDS registered 6.2% average CPU utilization.</a:t>
            </a:r>
          </a:p>
          <a:p>
            <a:pPr>
              <a:spcAft>
                <a:spcPts val="1000"/>
              </a:spcAft>
              <a:defRPr sz="1800">
                <a:solidFill>
                  <a:srgbClr val="F0F4F8"/>
                </a:solidFill>
                <a:latin typeface="Inter"/>
              </a:defRPr>
            </a:pPr>
            <a:r>
              <a:t>RAM Footprint: 214.70 MB RAM, easily fitting within 512MB IoT edge limits.</a:t>
            </a:r>
          </a:p>
          <a:p>
            <a:pPr>
              <a:spcAft>
                <a:spcPts val="1000"/>
              </a:spcAft>
              <a:defRPr sz="1800">
                <a:solidFill>
                  <a:srgbClr val="F0F4F8"/>
                </a:solidFill>
                <a:latin typeface="Inter"/>
              </a:defRPr>
            </a:pPr>
            <a:r>
              <a:t>Latency Savings: Bypassing ML for known signatures saves significant computation cycles during massive flooding campaigns.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Visualizations - Classifier ROC Curves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ROC Curves: All three classifiers achieved Area Under Curve (AUC = 1.0000).</a:t>
            </a:r>
          </a:p>
          <a:p>
            <a:pPr>
              <a:spcAft>
                <a:spcPts val="1000"/>
              </a:spcAft>
              <a:defRPr sz="1800">
                <a:solidFill>
                  <a:srgbClr val="F0F4F8"/>
                </a:solidFill>
                <a:latin typeface="Inter"/>
              </a:defRPr>
            </a:pPr>
            <a:r>
              <a:t>Indicates: Perfect discrimination between benign IoT traffic and malicious attack vectors.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Visualizations - Latency vs. Accuracy Trade-Off</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Signature Only: Fast but lower accuracy when zero-day attacks occur.</a:t>
            </a:r>
          </a:p>
          <a:p>
            <a:pPr>
              <a:spcAft>
                <a:spcPts val="1000"/>
              </a:spcAft>
              <a:defRPr sz="1800">
                <a:solidFill>
                  <a:srgbClr val="F0F4F8"/>
                </a:solidFill>
                <a:latin typeface="Inter"/>
              </a:defRPr>
            </a:pPr>
            <a:r>
              <a:t>ML Only: High accuracy but processes every packet through tree ensembles.</a:t>
            </a:r>
          </a:p>
          <a:p>
            <a:pPr>
              <a:spcAft>
                <a:spcPts val="1000"/>
              </a:spcAft>
              <a:defRPr sz="1800">
                <a:solidFill>
                  <a:srgbClr val="F0F4F8"/>
                </a:solidFill>
                <a:latin typeface="Inter"/>
              </a:defRPr>
            </a:pPr>
            <a:r>
              <a:t>Hybrid IDS: Optimal sweet spot balancing speed, memory, and high detection accuracy.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Discussion - Interpretation of Key Findings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Why Random Forest Excelled: Multi-tree bagging mitigates variance in non-stationary IoT streams.</a:t>
            </a:r>
          </a:p>
          <a:p>
            <a:pPr>
              <a:spcAft>
                <a:spcPts val="1000"/>
              </a:spcAft>
              <a:defRPr sz="1800">
                <a:solidFill>
                  <a:srgbClr val="F0F4F8"/>
                </a:solidFill>
                <a:latin typeface="Inter"/>
              </a:defRPr>
            </a:pPr>
            <a:r>
              <a:t>8-Feature Sufficiency: Proved that 8 features capture essential network flow dynamics.</a:t>
            </a:r>
          </a:p>
          <a:p>
            <a:pPr>
              <a:spcAft>
                <a:spcPts val="1000"/>
              </a:spcAft>
              <a:defRPr sz="1800">
                <a:solidFill>
                  <a:srgbClr val="F0F4F8"/>
                </a:solidFill>
                <a:latin typeface="Inter"/>
              </a:defRPr>
            </a:pPr>
            <a:r>
              <a:t>Sequential Efficiency: Phase 1 filtering acts as a computational shield for Phase 2 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Discussion - Comparison with Existing Literature</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Koroniotis et al. (2019): Deep learning models required GPU servers; our model runs on CPU in 214MB RAM.</a:t>
            </a:r>
          </a:p>
          <a:p>
            <a:pPr>
              <a:spcAft>
                <a:spcPts val="1000"/>
              </a:spcAft>
              <a:defRPr sz="1800">
                <a:solidFill>
                  <a:srgbClr val="F0F4F8"/>
                </a:solidFill>
                <a:latin typeface="Inter"/>
              </a:defRPr>
            </a:pPr>
            <a:r>
              <a:t>Diro &amp; Chilamkurti (2018): LSTM latency &gt;1.2ms; our hybrid latency is 0.034ms.</a:t>
            </a:r>
          </a:p>
          <a:p>
            <a:pPr>
              <a:spcAft>
                <a:spcPts val="1000"/>
              </a:spcAft>
              <a:defRPr sz="1800">
                <a:solidFill>
                  <a:srgbClr val="F0F4F8"/>
                </a:solidFill>
                <a:latin typeface="Inter"/>
              </a:defRPr>
            </a:pPr>
            <a:r>
              <a:t>Key Advantage: First lightweight hybrid framework evaluated across both classification and hardware metrics.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Discussion - System Limitations &amp; Adversarial Evasion</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Adversarial Throttling: Attackers lowering send rates to evade statistical thresholds.</a:t>
            </a:r>
          </a:p>
          <a:p>
            <a:pPr>
              <a:spcAft>
                <a:spcPts val="1000"/>
              </a:spcAft>
              <a:defRPr sz="1800">
                <a:solidFill>
                  <a:srgbClr val="F0F4F8"/>
                </a:solidFill>
                <a:latin typeface="Inter"/>
              </a:defRPr>
            </a:pPr>
            <a:r>
              <a:t>Encrypted Payload Obfuscation: TLS/DoH hiding header fields (requires flow-level stats).</a:t>
            </a:r>
          </a:p>
          <a:p>
            <a:pPr>
              <a:spcAft>
                <a:spcPts val="1000"/>
              </a:spcAft>
              <a:defRPr sz="1800">
                <a:solidFill>
                  <a:srgbClr val="F0F4F8"/>
                </a:solidFill>
                <a:latin typeface="Inter"/>
              </a:defRPr>
            </a:pPr>
            <a:r>
              <a:t>Future Mitigation: Integrating deep autoencoders for unlabelled flow anomaly detection.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Discussion - Practical IoT Edge Deployment Roadmap</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Step 1: Export Random Forest model to ONNX runtime format.</a:t>
            </a:r>
          </a:p>
          <a:p>
            <a:pPr>
              <a:spcAft>
                <a:spcPts val="1000"/>
              </a:spcAft>
              <a:defRPr sz="1800">
                <a:solidFill>
                  <a:srgbClr val="F0F4F8"/>
                </a:solidFill>
                <a:latin typeface="Inter"/>
              </a:defRPr>
            </a:pPr>
            <a:r>
              <a:t>Step 2: Compile Python engine into C/C++ via Cython.</a:t>
            </a:r>
          </a:p>
          <a:p>
            <a:pPr>
              <a:spcAft>
                <a:spcPts val="1000"/>
              </a:spcAft>
              <a:defRPr sz="1800">
                <a:solidFill>
                  <a:srgbClr val="F0F4F8"/>
                </a:solidFill>
                <a:latin typeface="Inter"/>
              </a:defRPr>
            </a:pPr>
            <a:r>
              <a:t>Step 3: Deploy onto Raspberry Pi 4 edge gateway monitoring real MQTT/CoAP streams.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Conclusion - Achievement of Objectives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Objective 1-3: Literature review, dataset preprocessing, and 3-stage feature selection completed.</a:t>
            </a:r>
          </a:p>
          <a:p>
            <a:pPr>
              <a:spcAft>
                <a:spcPts val="1000"/>
              </a:spcAft>
              <a:defRPr sz="1800">
                <a:solidFill>
                  <a:srgbClr val="F0F4F8"/>
                </a:solidFill>
                <a:latin typeface="Inter"/>
              </a:defRPr>
            </a:pPr>
            <a:r>
              <a:t>Objective 4-6: 9 signature rules built, ML models benchmarked, hybrid engine integrated.</a:t>
            </a:r>
          </a:p>
          <a:p>
            <a:pPr>
              <a:spcAft>
                <a:spcPts val="1000"/>
              </a:spcAft>
              <a:defRPr sz="1800">
                <a:solidFill>
                  <a:srgbClr val="F0F4F8"/>
                </a:solidFill>
                <a:latin typeface="Inter"/>
              </a:defRPr>
            </a:pPr>
            <a:r>
              <a:t>Objective 7-8: Empirical evaluation (100% Acc, 0.034ms) and zero-day simulation validated.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Summary of Key Contributions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Theoretical: 3-Stage Feature Selection methodology identifying the 8 optimal IoT traffic features.</a:t>
            </a:r>
          </a:p>
          <a:p>
            <a:pPr>
              <a:spcAft>
                <a:spcPts val="1000"/>
              </a:spcAft>
              <a:defRPr sz="1800">
                <a:solidFill>
                  <a:srgbClr val="F0F4F8"/>
                </a:solidFill>
                <a:latin typeface="Inter"/>
              </a:defRPr>
            </a:pPr>
            <a:r>
              <a:t>Practical: Functional, open-source Python hybrid IDS architecture ready for edge gateway deployment.</a:t>
            </a:r>
          </a:p>
          <a:p>
            <a:pPr>
              <a:spcAft>
                <a:spcPts val="1000"/>
              </a:spcAft>
              <a:defRPr sz="1800">
                <a:solidFill>
                  <a:srgbClr val="F0F4F8"/>
                </a:solidFill>
                <a:latin typeface="Inter"/>
              </a:defRPr>
            </a:pPr>
            <a:r>
              <a:t>Empirical: Comprehensive benchmark dataset documenting classification and hardware resource metrics.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Future Research Directions</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Deploy on physical Raspberry Pi 4 hardware nodes.</a:t>
            </a:r>
          </a:p>
          <a:p>
            <a:pPr>
              <a:spcAft>
                <a:spcPts val="1000"/>
              </a:spcAft>
              <a:defRPr sz="1800">
                <a:solidFill>
                  <a:srgbClr val="F0F4F8"/>
                </a:solidFill>
                <a:latin typeface="Inter"/>
              </a:defRPr>
            </a:pPr>
            <a:r>
              <a:t>Test against virtual IoT topologies in Mininet-IoT.</a:t>
            </a:r>
          </a:p>
          <a:p>
            <a:pPr>
              <a:spcAft>
                <a:spcPts val="1000"/>
              </a:spcAft>
              <a:defRPr sz="1800">
                <a:solidFill>
                  <a:srgbClr val="F0F4F8"/>
                </a:solidFill>
                <a:latin typeface="Inter"/>
              </a:defRPr>
            </a:pPr>
            <a:r>
              <a:t>Integrate ONNX runtime acceleration.</a:t>
            </a:r>
          </a:p>
          <a:p>
            <a:pPr>
              <a:spcAft>
                <a:spcPts val="1000"/>
              </a:spcAft>
              <a:defRPr sz="1800">
                <a:solidFill>
                  <a:srgbClr val="F0F4F8"/>
                </a:solidFill>
                <a:latin typeface="Inter"/>
              </a:defRPr>
            </a:pPr>
            <a:r>
              <a:t>Evaluate unsupervised Variational Autoencoders (VAE).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System Demo Overview</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Script 1: `data_loader.py` Loading BoT-IoT schema.</a:t>
            </a:r>
          </a:p>
          <a:p>
            <a:pPr>
              <a:spcAft>
                <a:spcPts val="1000"/>
              </a:spcAft>
              <a:defRPr sz="1800">
                <a:solidFill>
                  <a:srgbClr val="F0F4F8"/>
                </a:solidFill>
                <a:latin typeface="Inter"/>
              </a:defRPr>
            </a:pPr>
            <a:r>
              <a:t>Script 2: `feature_selection.py` Executing Pearson, MI, RFE ranking.</a:t>
            </a:r>
          </a:p>
          <a:p>
            <a:pPr>
              <a:spcAft>
                <a:spcPts val="1000"/>
              </a:spcAft>
              <a:defRPr sz="1800">
                <a:solidFill>
                  <a:srgbClr val="F0F4F8"/>
                </a:solidFill>
                <a:latin typeface="Inter"/>
              </a:defRPr>
            </a:pPr>
            <a:r>
              <a:t>Script 3: `main.py` Executing complete hybrid pipeline and generating figures.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Live Code Execution Walkthrough</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Executing `python main.py`.</a:t>
            </a:r>
          </a:p>
          <a:p>
            <a:pPr>
              <a:spcAft>
                <a:spcPts val="1000"/>
              </a:spcAft>
              <a:defRPr sz="1800">
                <a:solidFill>
                  <a:srgbClr val="F0F4F8"/>
                </a:solidFill>
                <a:latin typeface="Inter"/>
              </a:defRPr>
            </a:pPr>
            <a:r>
              <a:t>Observing Stage 1 to Stage 8 console execution output.</a:t>
            </a:r>
          </a:p>
          <a:p>
            <a:pPr>
              <a:spcAft>
                <a:spcPts val="1000"/>
              </a:spcAft>
              <a:defRPr sz="1800">
                <a:solidFill>
                  <a:srgbClr val="F0F4F8"/>
                </a:solidFill>
                <a:latin typeface="Inter"/>
              </a:defRPr>
            </a:pPr>
            <a:r>
              <a:t>Verification of 8 selected features and 100% test accuracy.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Generated Visualizations Review</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Reviewing `fig1_feature_importance.png` to `fig8_feature_selection_pipeline.png`.</a:t>
            </a:r>
          </a:p>
          <a:p>
            <a:pPr>
              <a:spcAft>
                <a:spcPts val="1000"/>
              </a:spcAft>
              <a:defRPr sz="1800">
                <a:solidFill>
                  <a:srgbClr val="F0F4F8"/>
                </a:solidFill>
                <a:latin typeface="Inter"/>
              </a:defRPr>
            </a:pPr>
            <a:r>
              <a:t>Confirming CPU/RAM resource figures.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Key References (Part 1)</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Kolias et al. (2017). DDoS in the IoT: Mirai and other botnets. *IEEE Comm. Mag.*</a:t>
            </a:r>
          </a:p>
          <a:p>
            <a:pPr>
              <a:spcAft>
                <a:spcPts val="1000"/>
              </a:spcAft>
              <a:defRPr sz="1800">
                <a:solidFill>
                  <a:srgbClr val="F0F4F8"/>
                </a:solidFill>
                <a:latin typeface="Inter"/>
              </a:defRPr>
            </a:pPr>
            <a:r>
              <a:t>Koroniotis et al. (2019). BoT-IoT dataset for network forensics. *Future Gen. Comput. Syst.*</a:t>
            </a:r>
          </a:p>
          <a:p>
            <a:pPr>
              <a:spcAft>
                <a:spcPts val="1000"/>
              </a:spcAft>
              <a:defRPr sz="1800">
                <a:solidFill>
                  <a:srgbClr val="F0F4F8"/>
                </a:solidFill>
                <a:latin typeface="Inter"/>
              </a:defRPr>
            </a:pPr>
            <a:r>
              <a:t>Diro &amp; Chilamkurti (2018). Distributed attack detection using deep learning for IoT. *FGCS*.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Key References (Part 2)</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Meidan et al. (2018). N-BaIoT: Network-based detection of IoT botnet attacks using autoencoders. *IEEE Pervasive*.</a:t>
            </a:r>
          </a:p>
          <a:p>
            <a:pPr>
              <a:spcAft>
                <a:spcPts val="1000"/>
              </a:spcAft>
              <a:defRPr sz="1800">
                <a:solidFill>
                  <a:srgbClr val="F0F4F8"/>
                </a:solidFill>
                <a:latin typeface="Inter"/>
              </a:defRPr>
            </a:pPr>
            <a:r>
              <a:t>Bostani &amp; Sheikhan (2017). Hybrid intrusion detection in IoT. *IEEE IoT Journal*.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Thank You</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Thank You for Your Attention!</a:t>
            </a:r>
          </a:p>
          <a:p>
            <a:pPr>
              <a:spcAft>
                <a:spcPts val="1000"/>
              </a:spcAft>
              <a:defRPr sz="1800">
                <a:solidFill>
                  <a:srgbClr val="F0F4F8"/>
                </a:solidFill>
                <a:latin typeface="Inter"/>
              </a:defRPr>
            </a:pPr>
            <a:r>
              <a:t>Student: R.M.L.S.B. Wijerathna (ID: 14519)</a:t>
            </a:r>
          </a:p>
          <a:p>
            <a:pPr>
              <a:spcAft>
                <a:spcPts val="1000"/>
              </a:spcAft>
              <a:defRPr sz="1800">
                <a:solidFill>
                  <a:srgbClr val="F0F4F8"/>
                </a:solidFill>
                <a:latin typeface="Inter"/>
              </a:defRPr>
            </a:pPr>
            <a:r>
              <a:t>Degree: BSc (Hons) in Computer Networks and Cyber Security</a:t>
            </a:r>
          </a:p>
          <a:p>
            <a:pPr>
              <a:spcAft>
                <a:spcPts val="1000"/>
              </a:spcAft>
              <a:defRPr sz="1800">
                <a:solidFill>
                  <a:srgbClr val="F0F4F8"/>
                </a:solidFill>
                <a:latin typeface="Inter"/>
              </a:defRPr>
            </a:pPr>
            <a:r>
              <a:t>Institution: KIU University, Sri Lanka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80911"/>
        </a:solidFill>
        <a:effectLst/>
      </p:bgPr>
    </p:bg>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2800" b="1">
                <a:solidFill>
                  <a:srgbClr val="00F0FF"/>
                </a:solidFill>
                <a:latin typeface="Outfit"/>
              </a:defRPr>
            </a:pPr>
            <a:r>
              <a:t>Questions &amp; Answers (Q&amp;A)</a:t>
            </a:r>
          </a:p>
        </p:txBody>
      </p:sp>
      <p:sp>
        <p:nvSpPr>
          <p:cNvPr id="3" name="TextBox 2"/>
          <p:cNvSpPr txBox="1"/>
          <p:nvPr/>
        </p:nvSpPr>
        <p:spPr>
          <a:xfrm>
            <a:off x="731520" y="1645920"/>
            <a:ext cx="10698480" cy="4572000"/>
          </a:xfrm>
          <a:prstGeom prst="rect">
            <a:avLst/>
          </a:prstGeom>
          <a:noFill/>
        </p:spPr>
        <p:txBody>
          <a:bodyPr wrap="square">
            <a:spAutoFit/>
          </a:bodyPr>
          <a:lstStyle/>
          <a:p>
            <a:pPr>
              <a:spcAft>
                <a:spcPts val="1000"/>
              </a:spcAft>
              <a:defRPr sz="1800">
                <a:solidFill>
                  <a:srgbClr val="F0F4F8"/>
                </a:solidFill>
                <a:latin typeface="Inter"/>
              </a:defRPr>
            </a:pPr>
            <a:r>
              <a:t>Open for Questions</a:t>
            </a:r>
          </a:p>
          <a:p>
            <a:pPr>
              <a:spcAft>
                <a:spcPts val="1000"/>
              </a:spcAft>
              <a:defRPr sz="1800">
                <a:solidFill>
                  <a:srgbClr val="F0F4F8"/>
                </a:solidFill>
                <a:latin typeface="Inter"/>
              </a:defRPr>
            </a:pPr>
            <a:r>
              <a:t>Contact: `student14519@kiu.ac.lk`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